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8613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Commissioner. Introduce the project as a fully deployed digital enforcement tool for GHMC patrol vehicles. Mention this replaces the manual paper-based challan process entirely.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before/after contrast. Key point: before this system, challans were handwritten, had no photo evidence, and were inconsistent. Now everything is digital, structured, and emailed instantly.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3 steps. Emphasize step 3 — the PDF is in the exact official GHMC notice format, quoting the correct sections of the GHMC Act. The officer prints it on the spot and hands it to the violator.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role separation — admin sees everything, workers are locked to their division. This is enforced at the API level, not just the UI. No worker can accidentally access another division's challans.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 the system is already deployed and running. Monthly cost is just ₹600. Roadmap is clear. Phase 3 can scale to all GHMC vehicles across Hyderabad without any architecture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5A"/>
        </a:solidFill>
        <a:effectLst/>
      </p:bgPr>
    </p:bg>
    <p:spTree>
      <p:nvGrpSpPr>
        <p:cNvPr id="1" name=""/>
        <p:cNvGrpSpPr/>
        <p:nvPr/>
      </p:nvGrpSpPr>
      <p:grpSpPr>
        <a:xfrm>
          <a:off x="0" y="0"/>
          <a:ext cx="0" cy="0"/>
          <a:chOff x="0" y="0"/>
          <a:chExt cx="0" cy="0"/>
        </a:xfrm>
      </p:grpSpPr>
      <p:sp>
        <p:nvSpPr>
          <p:cNvPr id="2" name="Shape 0"/>
          <p:cNvSpPr/>
          <p:nvPr/>
        </p:nvSpPr>
        <p:spPr>
          <a:xfrm>
            <a:off x="7132320" y="-1097280"/>
            <a:ext cx="3474720" cy="3474720"/>
          </a:xfrm>
          <a:prstGeom prst="ellipse">
            <a:avLst/>
          </a:prstGeom>
          <a:solidFill>
            <a:srgbClr val="0050B3">
              <a:alpha val="25000"/>
            </a:srgbClr>
          </a:solidFill>
          <a:ln w="12700">
            <a:solidFill>
              <a:srgbClr val="0050B3"/>
            </a:solidFill>
            <a:prstDash val="solid"/>
          </a:ln>
        </p:spPr>
      </p:sp>
      <p:sp>
        <p:nvSpPr>
          <p:cNvPr id="3" name="Shape 1"/>
          <p:cNvSpPr/>
          <p:nvPr/>
        </p:nvSpPr>
        <p:spPr>
          <a:xfrm>
            <a:off x="7863840" y="2560320"/>
            <a:ext cx="1828800" cy="1828800"/>
          </a:xfrm>
          <a:prstGeom prst="ellipse">
            <a:avLst/>
          </a:prstGeom>
          <a:solidFill>
            <a:srgbClr val="D4A017">
              <a:alpha val="15000"/>
            </a:srgbClr>
          </a:solidFill>
          <a:ln w="12700">
            <a:solidFill>
              <a:srgbClr val="D4A017"/>
            </a:solidFill>
            <a:prstDash val="solid"/>
          </a:ln>
        </p:spPr>
      </p:sp>
      <p:sp>
        <p:nvSpPr>
          <p:cNvPr id="4" name="Shape 2"/>
          <p:cNvSpPr/>
          <p:nvPr/>
        </p:nvSpPr>
        <p:spPr>
          <a:xfrm>
            <a:off x="0" y="4480560"/>
            <a:ext cx="9144000" cy="658368"/>
          </a:xfrm>
          <a:prstGeom prst="rect">
            <a:avLst/>
          </a:prstGeom>
          <a:solidFill>
            <a:srgbClr val="003580"/>
          </a:solidFill>
          <a:ln w="12700">
            <a:solidFill>
              <a:srgbClr val="003580"/>
            </a:solidFill>
            <a:prstDash val="solid"/>
          </a:ln>
        </p:spPr>
      </p:sp>
      <p:sp>
        <p:nvSpPr>
          <p:cNvPr id="6" name="Text 4"/>
          <p:cNvSpPr/>
          <p:nvPr/>
        </p:nvSpPr>
        <p:spPr>
          <a:xfrm>
            <a:off x="502920" y="640080"/>
            <a:ext cx="1005840" cy="502920"/>
          </a:xfrm>
          <a:prstGeom prst="rect">
            <a:avLst/>
          </a:prstGeom>
          <a:noFill/>
          <a:ln/>
        </p:spPr>
        <p:txBody>
          <a:bodyPr wrap="square" lIns="0" tIns="0" rIns="0" bIns="0" rtlCol="0" anchor="ctr"/>
          <a:lstStyle/>
          <a:p>
            <a:pPr marL="0" indent="0" algn="ctr">
              <a:buNone/>
            </a:pPr>
            <a:endParaRPr lang="en-US" sz="1100" dirty="0"/>
          </a:p>
        </p:txBody>
      </p:sp>
      <p:sp>
        <p:nvSpPr>
          <p:cNvPr id="7" name="Text 5"/>
          <p:cNvSpPr/>
          <p:nvPr/>
        </p:nvSpPr>
        <p:spPr>
          <a:xfrm>
            <a:off x="457200" y="1298448"/>
            <a:ext cx="6858000" cy="777240"/>
          </a:xfrm>
          <a:prstGeom prst="rect">
            <a:avLst/>
          </a:prstGeom>
          <a:noFill/>
          <a:ln/>
        </p:spPr>
        <p:txBody>
          <a:bodyPr wrap="square" rtlCol="0" anchor="ctr"/>
          <a:lstStyle/>
          <a:p>
            <a:pPr marL="0" indent="0">
              <a:buNone/>
            </a:pPr>
            <a:r>
              <a:rPr lang="en-US" sz="4000" b="1" kern="0" spc="100" dirty="0">
                <a:solidFill>
                  <a:srgbClr val="FFFFFF"/>
                </a:solidFill>
                <a:latin typeface="Cambria" pitchFamily="34" charset="0"/>
                <a:ea typeface="Cambria" pitchFamily="34" charset="-122"/>
                <a:cs typeface="Cambria" pitchFamily="34" charset="-120"/>
              </a:rPr>
              <a:t>GHMC Digital Challan</a:t>
            </a:r>
            <a:endParaRPr lang="en-US" sz="4000" dirty="0"/>
          </a:p>
        </p:txBody>
      </p:sp>
      <p:sp>
        <p:nvSpPr>
          <p:cNvPr id="8" name="Text 6"/>
          <p:cNvSpPr/>
          <p:nvPr/>
        </p:nvSpPr>
        <p:spPr>
          <a:xfrm>
            <a:off x="457200" y="2011680"/>
            <a:ext cx="6858000" cy="685800"/>
          </a:xfrm>
          <a:prstGeom prst="rect">
            <a:avLst/>
          </a:prstGeom>
          <a:noFill/>
          <a:ln/>
        </p:spPr>
        <p:txBody>
          <a:bodyPr wrap="square" rtlCol="0" anchor="ctr"/>
          <a:lstStyle/>
          <a:p>
            <a:pPr marL="0" indent="0">
              <a:buNone/>
            </a:pPr>
            <a:r>
              <a:rPr lang="en-US" sz="3600" b="1" kern="0" spc="100" dirty="0">
                <a:solidFill>
                  <a:srgbClr val="D4A017"/>
                </a:solidFill>
                <a:latin typeface="Cambria" pitchFamily="34" charset="0"/>
                <a:ea typeface="Cambria" pitchFamily="34" charset="-122"/>
                <a:cs typeface="Cambria" pitchFamily="34" charset="-120"/>
              </a:rPr>
              <a:t>Issuance System</a:t>
            </a:r>
            <a:endParaRPr lang="en-US" sz="3600" dirty="0"/>
          </a:p>
        </p:txBody>
      </p:sp>
      <p:sp>
        <p:nvSpPr>
          <p:cNvPr id="9" name="Text 7"/>
          <p:cNvSpPr/>
          <p:nvPr/>
        </p:nvSpPr>
        <p:spPr>
          <a:xfrm>
            <a:off x="457200" y="2834640"/>
            <a:ext cx="6858000" cy="411480"/>
          </a:xfrm>
          <a:prstGeom prst="rect">
            <a:avLst/>
          </a:prstGeom>
          <a:noFill/>
          <a:ln/>
        </p:spPr>
        <p:txBody>
          <a:bodyPr wrap="square" rtlCol="0" anchor="ctr"/>
          <a:lstStyle/>
          <a:p>
            <a:pPr marL="0" indent="0">
              <a:buNone/>
            </a:pPr>
            <a:r>
              <a:rPr lang="en-US" sz="1400" i="1" dirty="0">
                <a:solidFill>
                  <a:srgbClr val="A0B4D8"/>
                </a:solidFill>
                <a:latin typeface="Calibri" pitchFamily="34" charset="0"/>
                <a:ea typeface="Calibri" pitchFamily="34" charset="-122"/>
                <a:cs typeface="Calibri" pitchFamily="34" charset="-120"/>
              </a:rPr>
              <a:t>A field-ready enforcement platform for GHMC patrol vehicles</a:t>
            </a:r>
            <a:endParaRPr lang="en-US" sz="1400" dirty="0"/>
          </a:p>
        </p:txBody>
      </p:sp>
      <p:sp>
        <p:nvSpPr>
          <p:cNvPr id="10" name="Text 8"/>
          <p:cNvSpPr/>
          <p:nvPr/>
        </p:nvSpPr>
        <p:spPr>
          <a:xfrm>
            <a:off x="274320" y="4535424"/>
            <a:ext cx="8595360" cy="347472"/>
          </a:xfrm>
          <a:prstGeom prst="rect">
            <a:avLst/>
          </a:prstGeom>
          <a:noFill/>
          <a:ln/>
        </p:spPr>
        <p:txBody>
          <a:bodyPr wrap="square" rtlCol="0" anchor="ctr"/>
          <a:lstStyle/>
          <a:p>
            <a:pPr marL="0" indent="0" algn="ctr">
              <a:buNone/>
            </a:pPr>
            <a:r>
              <a:rPr lang="en-US" sz="1050" dirty="0">
                <a:solidFill>
                  <a:srgbClr val="A0C0FF"/>
                </a:solidFill>
                <a:latin typeface="Calibri" pitchFamily="34" charset="0"/>
                <a:ea typeface="Calibri" pitchFamily="34" charset="-122"/>
                <a:cs typeface="Calibri" pitchFamily="34" charset="-120"/>
              </a:rPr>
              <a:t>Greater Hyderabad Municipal Corporation  ·  Enforcement Division  ·  2025</a:t>
            </a:r>
            <a:endParaRPr lang="en-US" sz="1050" dirty="0"/>
          </a:p>
        </p:txBody>
      </p:sp>
      <p:sp>
        <p:nvSpPr>
          <p:cNvPr id="11" name="Shape 9"/>
          <p:cNvSpPr/>
          <p:nvPr/>
        </p:nvSpPr>
        <p:spPr>
          <a:xfrm>
            <a:off x="457200" y="3401568"/>
            <a:ext cx="1783080" cy="292608"/>
          </a:xfrm>
          <a:prstGeom prst="roundRect">
            <a:avLst>
              <a:gd name="adj" fmla="val 15625"/>
            </a:avLst>
          </a:prstGeom>
          <a:solidFill>
            <a:srgbClr val="0050B3">
              <a:alpha val="60000"/>
            </a:srgbClr>
          </a:solidFill>
          <a:ln w="12700">
            <a:solidFill>
              <a:srgbClr val="5080C0"/>
            </a:solidFill>
            <a:prstDash val="solid"/>
          </a:ln>
        </p:spPr>
      </p:sp>
      <p:sp>
        <p:nvSpPr>
          <p:cNvPr id="12" name="Text 10"/>
          <p:cNvSpPr/>
          <p:nvPr/>
        </p:nvSpPr>
        <p:spPr>
          <a:xfrm>
            <a:off x="457200" y="3401568"/>
            <a:ext cx="1783080" cy="292608"/>
          </a:xfrm>
          <a:prstGeom prst="rect">
            <a:avLst/>
          </a:prstGeom>
          <a:noFill/>
          <a:ln/>
        </p:spPr>
        <p:txBody>
          <a:bodyPr wrap="square" lIns="0" tIns="0" rIns="0" bIns="0" rtlCol="0" anchor="ctr"/>
          <a:lstStyle/>
          <a:p>
            <a:pPr marL="0" indent="0" algn="ctr">
              <a:buNone/>
            </a:pPr>
            <a:r>
              <a:rPr lang="en-US" sz="850" dirty="0">
                <a:solidFill>
                  <a:srgbClr val="B8D0F8"/>
                </a:solidFill>
                <a:latin typeface="Calibri" pitchFamily="34" charset="0"/>
                <a:ea typeface="Calibri" pitchFamily="34" charset="-122"/>
                <a:cs typeface="Calibri" pitchFamily="34" charset="-120"/>
              </a:rPr>
              <a:t>MERN Stack</a:t>
            </a:r>
            <a:endParaRPr lang="en-US" sz="850" dirty="0"/>
          </a:p>
        </p:txBody>
      </p:sp>
      <p:sp>
        <p:nvSpPr>
          <p:cNvPr id="13" name="Shape 11"/>
          <p:cNvSpPr/>
          <p:nvPr/>
        </p:nvSpPr>
        <p:spPr>
          <a:xfrm>
            <a:off x="2450592" y="3401568"/>
            <a:ext cx="1783080" cy="292608"/>
          </a:xfrm>
          <a:prstGeom prst="roundRect">
            <a:avLst>
              <a:gd name="adj" fmla="val 15625"/>
            </a:avLst>
          </a:prstGeom>
          <a:solidFill>
            <a:srgbClr val="0050B3">
              <a:alpha val="60000"/>
            </a:srgbClr>
          </a:solidFill>
          <a:ln w="12700">
            <a:solidFill>
              <a:srgbClr val="5080C0"/>
            </a:solidFill>
            <a:prstDash val="solid"/>
          </a:ln>
        </p:spPr>
      </p:sp>
      <p:sp>
        <p:nvSpPr>
          <p:cNvPr id="14" name="Text 12"/>
          <p:cNvSpPr/>
          <p:nvPr/>
        </p:nvSpPr>
        <p:spPr>
          <a:xfrm>
            <a:off x="2450592" y="3401568"/>
            <a:ext cx="1783080" cy="292608"/>
          </a:xfrm>
          <a:prstGeom prst="rect">
            <a:avLst/>
          </a:prstGeom>
          <a:noFill/>
          <a:ln/>
        </p:spPr>
        <p:txBody>
          <a:bodyPr wrap="square" lIns="0" tIns="0" rIns="0" bIns="0" rtlCol="0" anchor="ctr"/>
          <a:lstStyle/>
          <a:p>
            <a:pPr marL="0" indent="0" algn="ctr">
              <a:buNone/>
            </a:pPr>
            <a:r>
              <a:rPr lang="en-US" sz="850" dirty="0">
                <a:solidFill>
                  <a:srgbClr val="B8D0F8"/>
                </a:solidFill>
                <a:latin typeface="Calibri" pitchFamily="34" charset="0"/>
                <a:ea typeface="Calibri" pitchFamily="34" charset="-122"/>
                <a:cs typeface="Calibri" pitchFamily="34" charset="-120"/>
              </a:rPr>
              <a:t>Cloud Deployed</a:t>
            </a:r>
            <a:endParaRPr lang="en-US" sz="850" dirty="0"/>
          </a:p>
        </p:txBody>
      </p:sp>
      <p:sp>
        <p:nvSpPr>
          <p:cNvPr id="15" name="Shape 13"/>
          <p:cNvSpPr/>
          <p:nvPr/>
        </p:nvSpPr>
        <p:spPr>
          <a:xfrm>
            <a:off x="4443984" y="3401568"/>
            <a:ext cx="1783080" cy="292608"/>
          </a:xfrm>
          <a:prstGeom prst="roundRect">
            <a:avLst>
              <a:gd name="adj" fmla="val 15625"/>
            </a:avLst>
          </a:prstGeom>
          <a:solidFill>
            <a:srgbClr val="0050B3">
              <a:alpha val="60000"/>
            </a:srgbClr>
          </a:solidFill>
          <a:ln w="12700">
            <a:solidFill>
              <a:srgbClr val="5080C0"/>
            </a:solidFill>
            <a:prstDash val="solid"/>
          </a:ln>
        </p:spPr>
      </p:sp>
      <p:sp>
        <p:nvSpPr>
          <p:cNvPr id="16" name="Text 14"/>
          <p:cNvSpPr/>
          <p:nvPr/>
        </p:nvSpPr>
        <p:spPr>
          <a:xfrm>
            <a:off x="4443984" y="3401568"/>
            <a:ext cx="1783080" cy="292608"/>
          </a:xfrm>
          <a:prstGeom prst="rect">
            <a:avLst/>
          </a:prstGeom>
          <a:noFill/>
          <a:ln/>
        </p:spPr>
        <p:txBody>
          <a:bodyPr wrap="square" lIns="0" tIns="0" rIns="0" bIns="0" rtlCol="0" anchor="ctr"/>
          <a:lstStyle/>
          <a:p>
            <a:pPr marL="0" indent="0" algn="ctr">
              <a:buNone/>
            </a:pPr>
            <a:r>
              <a:rPr lang="en-US" sz="850" dirty="0">
                <a:solidFill>
                  <a:srgbClr val="B8D0F8"/>
                </a:solidFill>
                <a:latin typeface="Calibri" pitchFamily="34" charset="0"/>
                <a:ea typeface="Calibri" pitchFamily="34" charset="-122"/>
                <a:cs typeface="Calibri" pitchFamily="34" charset="-120"/>
              </a:rPr>
              <a:t>Role-Based Access</a:t>
            </a:r>
            <a:endParaRPr lang="en-US" sz="850" dirty="0"/>
          </a:p>
        </p:txBody>
      </p:sp>
      <p:sp>
        <p:nvSpPr>
          <p:cNvPr id="17" name="Shape 15"/>
          <p:cNvSpPr/>
          <p:nvPr/>
        </p:nvSpPr>
        <p:spPr>
          <a:xfrm>
            <a:off x="6437376" y="3401568"/>
            <a:ext cx="1783080" cy="292608"/>
          </a:xfrm>
          <a:prstGeom prst="roundRect">
            <a:avLst>
              <a:gd name="adj" fmla="val 15625"/>
            </a:avLst>
          </a:prstGeom>
          <a:solidFill>
            <a:srgbClr val="0050B3">
              <a:alpha val="60000"/>
            </a:srgbClr>
          </a:solidFill>
          <a:ln w="12700">
            <a:solidFill>
              <a:srgbClr val="5080C0"/>
            </a:solidFill>
            <a:prstDash val="solid"/>
          </a:ln>
        </p:spPr>
      </p:sp>
      <p:sp>
        <p:nvSpPr>
          <p:cNvPr id="18" name="Text 16"/>
          <p:cNvSpPr/>
          <p:nvPr/>
        </p:nvSpPr>
        <p:spPr>
          <a:xfrm>
            <a:off x="6437376" y="3401568"/>
            <a:ext cx="1783080" cy="292608"/>
          </a:xfrm>
          <a:prstGeom prst="rect">
            <a:avLst/>
          </a:prstGeom>
          <a:noFill/>
          <a:ln/>
        </p:spPr>
        <p:txBody>
          <a:bodyPr wrap="square" lIns="0" tIns="0" rIns="0" bIns="0" rtlCol="0" anchor="ctr"/>
          <a:lstStyle/>
          <a:p>
            <a:pPr marL="0" indent="0" algn="ctr">
              <a:buNone/>
            </a:pPr>
            <a:r>
              <a:rPr lang="en-US" sz="850" dirty="0">
                <a:solidFill>
                  <a:srgbClr val="B8D0F8"/>
                </a:solidFill>
                <a:latin typeface="Calibri" pitchFamily="34" charset="0"/>
                <a:ea typeface="Calibri" pitchFamily="34" charset="-122"/>
                <a:cs typeface="Calibri" pitchFamily="34" charset="-120"/>
              </a:rPr>
              <a:t>PDF Challan</a:t>
            </a:r>
            <a:endParaRPr lang="en-US" sz="850" dirty="0"/>
          </a:p>
        </p:txBody>
      </p:sp>
      <p:sp>
        <p:nvSpPr>
          <p:cNvPr id="19" name="TextBox 18">
            <a:extLst>
              <a:ext uri="{FF2B5EF4-FFF2-40B4-BE49-F238E27FC236}">
                <a16:creationId xmlns:a16="http://schemas.microsoft.com/office/drawing/2014/main" id="{B67BA864-6CC1-C662-5C26-60163CB6F8F1}"/>
              </a:ext>
            </a:extLst>
          </p:cNvPr>
          <p:cNvSpPr txBox="1"/>
          <p:nvPr/>
        </p:nvSpPr>
        <p:spPr>
          <a:xfrm>
            <a:off x="457200" y="3896751"/>
            <a:ext cx="7005711" cy="461665"/>
          </a:xfrm>
          <a:prstGeom prst="rect">
            <a:avLst/>
          </a:prstGeom>
          <a:noFill/>
        </p:spPr>
        <p:txBody>
          <a:bodyPr wrap="square" rtlCol="0">
            <a:spAutoFit/>
          </a:bodyPr>
          <a:lstStyle/>
          <a:p>
            <a:r>
              <a:rPr lang="en-US" sz="2400" dirty="0">
                <a:solidFill>
                  <a:schemeClr val="bg1"/>
                </a:solidFill>
              </a:rPr>
              <a:t>MOHAMMED KHAJA MUKARRAM UDDIN</a:t>
            </a:r>
            <a:endParaRPr lang="en-IN" sz="2400" dirty="0">
              <a:solidFill>
                <a:schemeClr val="bg1"/>
              </a:solidFill>
            </a:endParaRPr>
          </a:p>
        </p:txBody>
      </p:sp>
      <p:pic>
        <p:nvPicPr>
          <p:cNvPr id="21" name="Picture 20">
            <a:extLst>
              <a:ext uri="{FF2B5EF4-FFF2-40B4-BE49-F238E27FC236}">
                <a16:creationId xmlns:a16="http://schemas.microsoft.com/office/drawing/2014/main" id="{87969EDE-9F73-1E20-BCB1-09ED6D54AEFC}"/>
              </a:ext>
            </a:extLst>
          </p:cNvPr>
          <p:cNvPicPr>
            <a:picLocks noChangeAspect="1"/>
          </p:cNvPicPr>
          <p:nvPr/>
        </p:nvPicPr>
        <p:blipFill>
          <a:blip r:embed="rId3"/>
          <a:stretch>
            <a:fillRect/>
          </a:stretch>
        </p:blipFill>
        <p:spPr>
          <a:xfrm>
            <a:off x="541606" y="199551"/>
            <a:ext cx="1406597" cy="1140561"/>
          </a:xfrm>
          <a:prstGeom prst="rect">
            <a:avLst/>
          </a:prstGeom>
          <a:effectLst>
            <a:softEdge rad="3175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3580"/>
          </a:solidFill>
          <a:ln w="12700">
            <a:solidFill>
              <a:srgbClr val="003580"/>
            </a:solidFill>
            <a:prstDash val="solid"/>
          </a:ln>
        </p:spPr>
      </p:sp>
      <p:sp>
        <p:nvSpPr>
          <p:cNvPr id="3" name="Text 1"/>
          <p:cNvSpPr/>
          <p:nvPr/>
        </p:nvSpPr>
        <p:spPr>
          <a:xfrm>
            <a:off x="365760" y="73152"/>
            <a:ext cx="8412480" cy="59436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The Problem  →  Our Solution</a:t>
            </a:r>
            <a:endParaRPr lang="en-US" sz="2200" dirty="0"/>
          </a:p>
        </p:txBody>
      </p:sp>
      <p:sp>
        <p:nvSpPr>
          <p:cNvPr id="4" name="Shape 2"/>
          <p:cNvSpPr/>
          <p:nvPr/>
        </p:nvSpPr>
        <p:spPr>
          <a:xfrm>
            <a:off x="274320" y="914400"/>
            <a:ext cx="3977640" cy="3886200"/>
          </a:xfrm>
          <a:prstGeom prst="roundRect">
            <a:avLst>
              <a:gd name="adj" fmla="val 2824"/>
            </a:avLst>
          </a:prstGeom>
          <a:solidFill>
            <a:srgbClr val="FEF0EE"/>
          </a:solidFill>
          <a:ln w="19050">
            <a:solidFill>
              <a:srgbClr val="F5C6C0"/>
            </a:solidFill>
            <a:prstDash val="solid"/>
          </a:ln>
          <a:effectLst>
            <a:outerShdw blurRad="127000" dist="38100" dir="2700000" algn="bl" rotWithShape="0">
              <a:srgbClr val="000000">
                <a:alpha val="14000"/>
              </a:srgbClr>
            </a:outerShdw>
          </a:effectLst>
        </p:spPr>
      </p:sp>
      <p:sp>
        <p:nvSpPr>
          <p:cNvPr id="5" name="Text 3"/>
          <p:cNvSpPr/>
          <p:nvPr/>
        </p:nvSpPr>
        <p:spPr>
          <a:xfrm>
            <a:off x="457200" y="1005840"/>
            <a:ext cx="3566160" cy="384048"/>
          </a:xfrm>
          <a:prstGeom prst="rect">
            <a:avLst/>
          </a:prstGeom>
          <a:noFill/>
          <a:ln/>
        </p:spPr>
        <p:txBody>
          <a:bodyPr wrap="square" lIns="0" tIns="0" rIns="0" bIns="0"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  Before</a:t>
            </a:r>
            <a:endParaRPr lang="en-US" sz="1500" dirty="0"/>
          </a:p>
        </p:txBody>
      </p:sp>
      <p:sp>
        <p:nvSpPr>
          <p:cNvPr id="6" name="Text 4"/>
          <p:cNvSpPr/>
          <p:nvPr/>
        </p:nvSpPr>
        <p:spPr>
          <a:xfrm>
            <a:off x="457200" y="1463040"/>
            <a:ext cx="3611880" cy="3108960"/>
          </a:xfrm>
          <a:prstGeom prst="rect">
            <a:avLst/>
          </a:prstGeom>
          <a:noFill/>
          <a:ln/>
        </p:spPr>
        <p:txBody>
          <a:bodyPr wrap="square" rtlCol="0" anchor="ctr"/>
          <a:lstStyle/>
          <a:p>
            <a:pPr marL="342900" indent="-342900">
              <a:spcAft>
                <a:spcPts val="500"/>
              </a:spcAft>
              <a:buSzPct val="100000"/>
              <a:buChar char="•"/>
            </a:pPr>
            <a:r>
              <a:rPr lang="en-US" sz="1150" dirty="0">
                <a:solidFill>
                  <a:srgbClr val="6B1A14"/>
                </a:solidFill>
                <a:latin typeface="Calibri" pitchFamily="34" charset="0"/>
                <a:ea typeface="Calibri" pitchFamily="34" charset="-122"/>
                <a:cs typeface="Calibri" pitchFamily="34" charset="-120"/>
              </a:rPr>
              <a:t>Manual handwritten paper challans</a:t>
            </a:r>
            <a:endParaRPr lang="en-US" sz="1150" dirty="0"/>
          </a:p>
          <a:p>
            <a:pPr marL="342900" indent="-342900">
              <a:spcAft>
                <a:spcPts val="500"/>
              </a:spcAft>
              <a:buSzPct val="100000"/>
              <a:buChar char="•"/>
            </a:pPr>
            <a:r>
              <a:rPr lang="en-US" sz="1150" dirty="0">
                <a:solidFill>
                  <a:srgbClr val="6B1A14"/>
                </a:solidFill>
                <a:latin typeface="Calibri" pitchFamily="34" charset="0"/>
                <a:ea typeface="Calibri" pitchFamily="34" charset="-122"/>
                <a:cs typeface="Calibri" pitchFamily="34" charset="-120"/>
              </a:rPr>
              <a:t>No photo evidence attached</a:t>
            </a:r>
            <a:endParaRPr lang="en-US" sz="1150" dirty="0"/>
          </a:p>
          <a:p>
            <a:pPr marL="342900" indent="-342900">
              <a:spcAft>
                <a:spcPts val="500"/>
              </a:spcAft>
              <a:buSzPct val="100000"/>
              <a:buChar char="•"/>
            </a:pPr>
            <a:r>
              <a:rPr lang="en-US" sz="1150" dirty="0">
                <a:solidFill>
                  <a:srgbClr val="6B1A14"/>
                </a:solidFill>
                <a:latin typeface="Calibri" pitchFamily="34" charset="0"/>
                <a:ea typeface="Calibri" pitchFamily="34" charset="-122"/>
                <a:cs typeface="Calibri" pitchFamily="34" charset="-120"/>
              </a:rPr>
              <a:t>No standard format — inconsistent records</a:t>
            </a:r>
            <a:endParaRPr lang="en-US" sz="1150" dirty="0"/>
          </a:p>
          <a:p>
            <a:pPr marL="342900" indent="-342900">
              <a:spcAft>
                <a:spcPts val="500"/>
              </a:spcAft>
              <a:buSzPct val="100000"/>
              <a:buChar char="•"/>
            </a:pPr>
            <a:r>
              <a:rPr lang="en-US" sz="1150" dirty="0">
                <a:solidFill>
                  <a:srgbClr val="6B1A14"/>
                </a:solidFill>
                <a:latin typeface="Calibri" pitchFamily="34" charset="0"/>
                <a:ea typeface="Calibri" pitchFamily="34" charset="-122"/>
                <a:cs typeface="Calibri" pitchFamily="34" charset="-120"/>
              </a:rPr>
              <a:t>Officer had to deliver notices physically</a:t>
            </a:r>
            <a:endParaRPr lang="en-US" sz="1150" dirty="0"/>
          </a:p>
          <a:p>
            <a:pPr marL="342900" indent="-342900">
              <a:spcAft>
                <a:spcPts val="500"/>
              </a:spcAft>
              <a:buSzPct val="100000"/>
              <a:buChar char="•"/>
            </a:pPr>
            <a:r>
              <a:rPr lang="en-US" sz="1150" dirty="0">
                <a:solidFill>
                  <a:srgbClr val="6B1A14"/>
                </a:solidFill>
                <a:latin typeface="Calibri" pitchFamily="34" charset="0"/>
                <a:ea typeface="Calibri" pitchFamily="34" charset="-122"/>
                <a:cs typeface="Calibri" pitchFamily="34" charset="-120"/>
              </a:rPr>
              <a:t>No digital trail or accountability</a:t>
            </a:r>
            <a:endParaRPr lang="en-US" sz="1150" dirty="0"/>
          </a:p>
          <a:p>
            <a:pPr marL="342900" indent="-342900">
              <a:spcAft>
                <a:spcPts val="500"/>
              </a:spcAft>
              <a:buSzPct val="100000"/>
              <a:buChar char="•"/>
            </a:pPr>
            <a:r>
              <a:rPr lang="en-US" sz="1150" dirty="0">
                <a:solidFill>
                  <a:srgbClr val="6B1A14"/>
                </a:solidFill>
                <a:latin typeface="Calibri" pitchFamily="34" charset="0"/>
                <a:ea typeface="Calibri" pitchFamily="34" charset="-122"/>
                <a:cs typeface="Calibri" pitchFamily="34" charset="-120"/>
              </a:rPr>
              <a:t>No division-wise isolation of data</a:t>
            </a:r>
            <a:endParaRPr lang="en-US" sz="1150" dirty="0"/>
          </a:p>
        </p:txBody>
      </p:sp>
      <p:sp>
        <p:nvSpPr>
          <p:cNvPr id="7" name="Shape 5"/>
          <p:cNvSpPr/>
          <p:nvPr/>
        </p:nvSpPr>
        <p:spPr>
          <a:xfrm>
            <a:off x="4892040" y="914400"/>
            <a:ext cx="3977640" cy="3886200"/>
          </a:xfrm>
          <a:prstGeom prst="roundRect">
            <a:avLst>
              <a:gd name="adj" fmla="val 2824"/>
            </a:avLst>
          </a:prstGeom>
          <a:solidFill>
            <a:srgbClr val="EEF8F2"/>
          </a:solidFill>
          <a:ln w="19050">
            <a:solidFill>
              <a:srgbClr val="A8D8BF"/>
            </a:solidFill>
            <a:prstDash val="solid"/>
          </a:ln>
          <a:effectLst>
            <a:outerShdw blurRad="127000" dist="38100" dir="2700000" algn="bl" rotWithShape="0">
              <a:srgbClr val="000000">
                <a:alpha val="14000"/>
              </a:srgbClr>
            </a:outerShdw>
          </a:effectLst>
        </p:spPr>
      </p:sp>
      <p:sp>
        <p:nvSpPr>
          <p:cNvPr id="8" name="Text 6"/>
          <p:cNvSpPr/>
          <p:nvPr/>
        </p:nvSpPr>
        <p:spPr>
          <a:xfrm>
            <a:off x="5074920" y="1005840"/>
            <a:ext cx="3566160" cy="384048"/>
          </a:xfrm>
          <a:prstGeom prst="rect">
            <a:avLst/>
          </a:prstGeom>
          <a:noFill/>
          <a:ln/>
        </p:spPr>
        <p:txBody>
          <a:bodyPr wrap="square" lIns="0" tIns="0" rIns="0" bIns="0" rtlCol="0" anchor="ctr"/>
          <a:lstStyle/>
          <a:p>
            <a:pPr marL="0" indent="0">
              <a:buNone/>
            </a:pPr>
            <a:r>
              <a:rPr lang="en-US" sz="1500" b="1" dirty="0">
                <a:solidFill>
                  <a:srgbClr val="1A6B3C"/>
                </a:solidFill>
                <a:latin typeface="Calibri" pitchFamily="34" charset="0"/>
                <a:ea typeface="Calibri" pitchFamily="34" charset="-122"/>
                <a:cs typeface="Calibri" pitchFamily="34" charset="-120"/>
              </a:rPr>
              <a:t>✅  After</a:t>
            </a:r>
            <a:endParaRPr lang="en-US" sz="1500" dirty="0"/>
          </a:p>
        </p:txBody>
      </p:sp>
      <p:sp>
        <p:nvSpPr>
          <p:cNvPr id="9" name="Text 7"/>
          <p:cNvSpPr/>
          <p:nvPr/>
        </p:nvSpPr>
        <p:spPr>
          <a:xfrm>
            <a:off x="5074920" y="1463040"/>
            <a:ext cx="3611880" cy="3108960"/>
          </a:xfrm>
          <a:prstGeom prst="rect">
            <a:avLst/>
          </a:prstGeom>
          <a:noFill/>
          <a:ln/>
        </p:spPr>
        <p:txBody>
          <a:bodyPr wrap="square" rtlCol="0" anchor="ctr"/>
          <a:lstStyle/>
          <a:p>
            <a:pPr marL="342900" indent="-342900">
              <a:spcAft>
                <a:spcPts val="500"/>
              </a:spcAft>
              <a:buSzPct val="100000"/>
              <a:buChar char="•"/>
            </a:pPr>
            <a:r>
              <a:rPr lang="en-US" sz="1150" dirty="0">
                <a:solidFill>
                  <a:srgbClr val="0A3D22"/>
                </a:solidFill>
                <a:latin typeface="Calibri" pitchFamily="34" charset="0"/>
                <a:ea typeface="Calibri" pitchFamily="34" charset="-122"/>
                <a:cs typeface="Calibri" pitchFamily="34" charset="-120"/>
              </a:rPr>
              <a:t>Structured digital form on any device</a:t>
            </a:r>
            <a:endParaRPr lang="en-US" sz="1150" dirty="0"/>
          </a:p>
          <a:p>
            <a:pPr marL="342900" indent="-342900">
              <a:spcAft>
                <a:spcPts val="500"/>
              </a:spcAft>
              <a:buSzPct val="100000"/>
              <a:buChar char="•"/>
            </a:pPr>
            <a:r>
              <a:rPr lang="en-US" sz="1150" dirty="0">
                <a:solidFill>
                  <a:srgbClr val="0A3D22"/>
                </a:solidFill>
                <a:latin typeface="Calibri" pitchFamily="34" charset="0"/>
                <a:ea typeface="Calibri" pitchFamily="34" charset="-122"/>
                <a:cs typeface="Calibri" pitchFamily="34" charset="-120"/>
              </a:rPr>
              <a:t>Photo evidence captured &amp; embedded in PDF</a:t>
            </a:r>
            <a:endParaRPr lang="en-US" sz="1150" dirty="0"/>
          </a:p>
          <a:p>
            <a:pPr marL="342900" indent="-342900">
              <a:spcAft>
                <a:spcPts val="500"/>
              </a:spcAft>
              <a:buSzPct val="100000"/>
              <a:buChar char="•"/>
            </a:pPr>
            <a:r>
              <a:rPr lang="en-US" sz="1150" dirty="0">
                <a:solidFill>
                  <a:srgbClr val="0A3D22"/>
                </a:solidFill>
                <a:latin typeface="Calibri" pitchFamily="34" charset="0"/>
                <a:ea typeface="Calibri" pitchFamily="34" charset="-122"/>
                <a:cs typeface="Calibri" pitchFamily="34" charset="-120"/>
              </a:rPr>
              <a:t>Official GHMC format, auto-generated</a:t>
            </a:r>
            <a:endParaRPr lang="en-US" sz="1150" dirty="0"/>
          </a:p>
          <a:p>
            <a:pPr marL="342900" indent="-342900">
              <a:spcAft>
                <a:spcPts val="500"/>
              </a:spcAft>
              <a:buSzPct val="100000"/>
              <a:buChar char="•"/>
            </a:pPr>
            <a:r>
              <a:rPr lang="en-US" sz="1150" dirty="0">
                <a:solidFill>
                  <a:srgbClr val="0A3D22"/>
                </a:solidFill>
                <a:latin typeface="Calibri" pitchFamily="34" charset="0"/>
                <a:ea typeface="Calibri" pitchFamily="34" charset="-122"/>
                <a:cs typeface="Calibri" pitchFamily="34" charset="-120"/>
              </a:rPr>
              <a:t>Email to Commissioner with one click</a:t>
            </a:r>
            <a:endParaRPr lang="en-US" sz="1150" dirty="0"/>
          </a:p>
          <a:p>
            <a:pPr marL="342900" indent="-342900">
              <a:spcAft>
                <a:spcPts val="500"/>
              </a:spcAft>
              <a:buSzPct val="100000"/>
              <a:buChar char="•"/>
            </a:pPr>
            <a:r>
              <a:rPr lang="en-US" sz="1150" dirty="0">
                <a:solidFill>
                  <a:srgbClr val="0A3D22"/>
                </a:solidFill>
                <a:latin typeface="Calibri" pitchFamily="34" charset="0"/>
                <a:ea typeface="Calibri" pitchFamily="34" charset="-122"/>
                <a:cs typeface="Calibri" pitchFamily="34" charset="-120"/>
              </a:rPr>
              <a:t>Full audit trail in MongoDB database</a:t>
            </a:r>
            <a:endParaRPr lang="en-US" sz="1150" dirty="0"/>
          </a:p>
          <a:p>
            <a:pPr marL="342900" indent="-342900">
              <a:spcAft>
                <a:spcPts val="500"/>
              </a:spcAft>
              <a:buSzPct val="100000"/>
              <a:buChar char="•"/>
            </a:pPr>
            <a:r>
              <a:rPr lang="en-US" sz="1150" dirty="0">
                <a:solidFill>
                  <a:srgbClr val="0A3D22"/>
                </a:solidFill>
                <a:latin typeface="Calibri" pitchFamily="34" charset="0"/>
                <a:ea typeface="Calibri" pitchFamily="34" charset="-122"/>
                <a:cs typeface="Calibri" pitchFamily="34" charset="-120"/>
              </a:rPr>
              <a:t>Workers isolated by division — secure</a:t>
            </a:r>
            <a:endParaRPr lang="en-US" sz="1150" dirty="0"/>
          </a:p>
        </p:txBody>
      </p:sp>
      <p:sp>
        <p:nvSpPr>
          <p:cNvPr id="10" name="Shape 8"/>
          <p:cNvSpPr/>
          <p:nvPr/>
        </p:nvSpPr>
        <p:spPr>
          <a:xfrm>
            <a:off x="4224528" y="2560320"/>
            <a:ext cx="640080" cy="640080"/>
          </a:xfrm>
          <a:prstGeom prst="ellipse">
            <a:avLst/>
          </a:prstGeom>
          <a:solidFill>
            <a:srgbClr val="D4A017"/>
          </a:solidFill>
          <a:ln w="12700">
            <a:solidFill>
              <a:srgbClr val="D4A017"/>
            </a:solidFill>
            <a:prstDash val="solid"/>
          </a:ln>
        </p:spPr>
      </p:sp>
      <p:sp>
        <p:nvSpPr>
          <p:cNvPr id="11" name="Text 9"/>
          <p:cNvSpPr/>
          <p:nvPr/>
        </p:nvSpPr>
        <p:spPr>
          <a:xfrm>
            <a:off x="4224528" y="2578608"/>
            <a:ext cx="640080" cy="566928"/>
          </a:xfrm>
          <a:prstGeom prst="rect">
            <a:avLst/>
          </a:prstGeom>
          <a:noFill/>
          <a:ln/>
        </p:spPr>
        <p:txBody>
          <a:bodyPr wrap="square" lIns="0" tIns="0" rIns="0" bIns="0" rtlCol="0" anchor="ctr"/>
          <a:lstStyle/>
          <a:p>
            <a:pPr marL="0" indent="0" algn="ctr">
              <a:buNone/>
            </a:pPr>
            <a:r>
              <a:rPr lang="en-US" sz="2200" b="1" dirty="0">
                <a:solidFill>
                  <a:srgbClr val="FFFFFF"/>
                </a:solidFill>
              </a:rPr>
              <a: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1E5A"/>
          </a:solidFill>
          <a:ln w="12700">
            <a:solidFill>
              <a:srgbClr val="001E5A"/>
            </a:solidFill>
            <a:prstDash val="solid"/>
          </a:ln>
        </p:spPr>
      </p:sp>
      <p:sp>
        <p:nvSpPr>
          <p:cNvPr id="3" name="Text 1"/>
          <p:cNvSpPr/>
          <p:nvPr/>
        </p:nvSpPr>
        <p:spPr>
          <a:xfrm>
            <a:off x="365760" y="73152"/>
            <a:ext cx="8412480" cy="59436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How It Works — 3 Simple Steps</a:t>
            </a:r>
            <a:endParaRPr lang="en-US" sz="2200" dirty="0"/>
          </a:p>
        </p:txBody>
      </p:sp>
      <p:sp>
        <p:nvSpPr>
          <p:cNvPr id="4" name="Shape 2"/>
          <p:cNvSpPr/>
          <p:nvPr/>
        </p:nvSpPr>
        <p:spPr>
          <a:xfrm>
            <a:off x="256032" y="896112"/>
            <a:ext cx="2788920" cy="4041648"/>
          </a:xfrm>
          <a:prstGeom prst="roundRect">
            <a:avLst>
              <a:gd name="adj" fmla="val 3934"/>
            </a:avLst>
          </a:prstGeom>
          <a:solidFill>
            <a:srgbClr val="E6EEF8"/>
          </a:solidFill>
          <a:ln w="19050">
            <a:solidFill>
              <a:srgbClr val="A0C0E8"/>
            </a:solidFill>
            <a:prstDash val="solid"/>
          </a:ln>
          <a:effectLst>
            <a:outerShdw blurRad="127000" dist="38100" dir="2700000" algn="bl" rotWithShape="0">
              <a:srgbClr val="000000">
                <a:alpha val="14000"/>
              </a:srgbClr>
            </a:outerShdw>
          </a:effectLst>
        </p:spPr>
      </p:sp>
      <p:sp>
        <p:nvSpPr>
          <p:cNvPr id="5" name="Shape 3"/>
          <p:cNvSpPr/>
          <p:nvPr/>
        </p:nvSpPr>
        <p:spPr>
          <a:xfrm>
            <a:off x="1303020" y="960120"/>
            <a:ext cx="694944" cy="694944"/>
          </a:xfrm>
          <a:prstGeom prst="ellipse">
            <a:avLst/>
          </a:prstGeom>
          <a:solidFill>
            <a:srgbClr val="003580"/>
          </a:solidFill>
          <a:ln w="12700">
            <a:solidFill>
              <a:srgbClr val="003580"/>
            </a:solidFill>
            <a:prstDash val="solid"/>
          </a:ln>
        </p:spPr>
      </p:sp>
      <p:sp>
        <p:nvSpPr>
          <p:cNvPr id="6" name="Text 4"/>
          <p:cNvSpPr/>
          <p:nvPr/>
        </p:nvSpPr>
        <p:spPr>
          <a:xfrm>
            <a:off x="1303020" y="996696"/>
            <a:ext cx="694944" cy="57607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365760" y="1737360"/>
            <a:ext cx="2569464" cy="457200"/>
          </a:xfrm>
          <a:prstGeom prst="rect">
            <a:avLst/>
          </a:prstGeom>
          <a:noFill/>
          <a:ln/>
        </p:spPr>
        <p:txBody>
          <a:bodyPr wrap="square" lIns="0" tIns="0" rIns="0" bIns="0" rtlCol="0" anchor="ctr"/>
          <a:lstStyle/>
          <a:p>
            <a:pPr marL="0" indent="0" algn="ctr">
              <a:buNone/>
            </a:pPr>
            <a:r>
              <a:rPr lang="en-US" sz="1300" b="1" dirty="0">
                <a:solidFill>
                  <a:srgbClr val="003580"/>
                </a:solidFill>
                <a:latin typeface="Calibri" pitchFamily="34" charset="0"/>
                <a:ea typeface="Calibri" pitchFamily="34" charset="-122"/>
                <a:cs typeface="Calibri" pitchFamily="34" charset="-120"/>
              </a:rPr>
              <a:t>Fill the Challan Form</a:t>
            </a:r>
            <a:endParaRPr lang="en-US" sz="1300" dirty="0"/>
          </a:p>
        </p:txBody>
      </p:sp>
      <p:sp>
        <p:nvSpPr>
          <p:cNvPr id="8" name="Text 6"/>
          <p:cNvSpPr/>
          <p:nvPr/>
        </p:nvSpPr>
        <p:spPr>
          <a:xfrm>
            <a:off x="420624" y="2304288"/>
            <a:ext cx="2496312" cy="2468880"/>
          </a:xfrm>
          <a:prstGeom prst="rect">
            <a:avLst/>
          </a:prstGeom>
          <a:noFill/>
          <a:ln/>
        </p:spPr>
        <p:txBody>
          <a:bodyPr wrap="square" rtlCol="0" anchor="ctr"/>
          <a:lstStyle/>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Select violation from 11 predefined types</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Enter violator name, location &amp; time</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Upload photo from mobile or laptop</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Enter officer name &amp; designation</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Set fine amount (or negotiate)</a:t>
            </a:r>
            <a:endParaRPr lang="en-US" sz="1050" dirty="0"/>
          </a:p>
        </p:txBody>
      </p:sp>
      <p:sp>
        <p:nvSpPr>
          <p:cNvPr id="9" name="Text 7"/>
          <p:cNvSpPr/>
          <p:nvPr/>
        </p:nvSpPr>
        <p:spPr>
          <a:xfrm>
            <a:off x="3063240" y="2606040"/>
            <a:ext cx="182880" cy="457200"/>
          </a:xfrm>
          <a:prstGeom prst="rect">
            <a:avLst/>
          </a:prstGeom>
          <a:noFill/>
          <a:ln/>
        </p:spPr>
        <p:txBody>
          <a:bodyPr wrap="square" lIns="0" tIns="0" rIns="0" bIns="0" rtlCol="0" anchor="ctr"/>
          <a:lstStyle/>
          <a:p>
            <a:pPr marL="0" indent="0" algn="ctr">
              <a:buNone/>
            </a:pPr>
            <a:r>
              <a:rPr lang="en-US" sz="1800" b="1" dirty="0">
                <a:solidFill>
                  <a:srgbClr val="D4A017"/>
                </a:solidFill>
              </a:rPr>
              <a:t>→</a:t>
            </a:r>
            <a:endParaRPr lang="en-US" sz="1800" dirty="0"/>
          </a:p>
        </p:txBody>
      </p:sp>
      <p:sp>
        <p:nvSpPr>
          <p:cNvPr id="10" name="Shape 8"/>
          <p:cNvSpPr/>
          <p:nvPr/>
        </p:nvSpPr>
        <p:spPr>
          <a:xfrm>
            <a:off x="3200400" y="896112"/>
            <a:ext cx="2788920" cy="4041648"/>
          </a:xfrm>
          <a:prstGeom prst="roundRect">
            <a:avLst>
              <a:gd name="adj" fmla="val 3934"/>
            </a:avLst>
          </a:prstGeom>
          <a:solidFill>
            <a:srgbClr val="EBF5FB"/>
          </a:solidFill>
          <a:ln w="19050">
            <a:solidFill>
              <a:srgbClr val="85C1E9"/>
            </a:solidFill>
            <a:prstDash val="solid"/>
          </a:ln>
          <a:effectLst>
            <a:outerShdw blurRad="127000" dist="38100" dir="2700000" algn="bl" rotWithShape="0">
              <a:srgbClr val="000000">
                <a:alpha val="14000"/>
              </a:srgbClr>
            </a:outerShdw>
          </a:effectLst>
        </p:spPr>
      </p:sp>
      <p:sp>
        <p:nvSpPr>
          <p:cNvPr id="11" name="Shape 9"/>
          <p:cNvSpPr/>
          <p:nvPr/>
        </p:nvSpPr>
        <p:spPr>
          <a:xfrm>
            <a:off x="4247388" y="960120"/>
            <a:ext cx="694944" cy="694944"/>
          </a:xfrm>
          <a:prstGeom prst="ellipse">
            <a:avLst/>
          </a:prstGeom>
          <a:solidFill>
            <a:srgbClr val="1A5276"/>
          </a:solidFill>
          <a:ln w="12700">
            <a:solidFill>
              <a:srgbClr val="1A5276"/>
            </a:solidFill>
            <a:prstDash val="solid"/>
          </a:ln>
        </p:spPr>
      </p:sp>
      <p:sp>
        <p:nvSpPr>
          <p:cNvPr id="12" name="Text 10"/>
          <p:cNvSpPr/>
          <p:nvPr/>
        </p:nvSpPr>
        <p:spPr>
          <a:xfrm>
            <a:off x="4247388" y="996696"/>
            <a:ext cx="694944" cy="57607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310128" y="1737360"/>
            <a:ext cx="2569464" cy="457200"/>
          </a:xfrm>
          <a:prstGeom prst="rect">
            <a:avLst/>
          </a:prstGeom>
          <a:noFill/>
          <a:ln/>
        </p:spPr>
        <p:txBody>
          <a:bodyPr wrap="square" lIns="0" tIns="0" rIns="0" bIns="0" rtlCol="0" anchor="ctr"/>
          <a:lstStyle/>
          <a:p>
            <a:pPr marL="0" indent="0" algn="ctr">
              <a:buNone/>
            </a:pPr>
            <a:r>
              <a:rPr lang="en-US" sz="1300" b="1" dirty="0">
                <a:solidFill>
                  <a:srgbClr val="1A5276"/>
                </a:solidFill>
                <a:latin typeface="Calibri" pitchFamily="34" charset="0"/>
                <a:ea typeface="Calibri" pitchFamily="34" charset="-122"/>
                <a:cs typeface="Calibri" pitchFamily="34" charset="-120"/>
              </a:rPr>
              <a:t>Send Official Email</a:t>
            </a:r>
            <a:endParaRPr lang="en-US" sz="1300" dirty="0"/>
          </a:p>
        </p:txBody>
      </p:sp>
      <p:sp>
        <p:nvSpPr>
          <p:cNvPr id="14" name="Text 12"/>
          <p:cNvSpPr/>
          <p:nvPr/>
        </p:nvSpPr>
        <p:spPr>
          <a:xfrm>
            <a:off x="3364992" y="2304288"/>
            <a:ext cx="2496312" cy="2468880"/>
          </a:xfrm>
          <a:prstGeom prst="rect">
            <a:avLst/>
          </a:prstGeom>
          <a:noFill/>
          <a:ln/>
        </p:spPr>
        <p:txBody>
          <a:bodyPr wrap="square" rtlCol="0" anchor="ctr"/>
          <a:lstStyle/>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Select recipients from officer list</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Commissioner, Zonal, Deputy &amp; more</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Photo evidence auto-attached</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One-click dispatch via Gmail SMTP</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Email status tracked (sent / failed)</a:t>
            </a:r>
            <a:endParaRPr lang="en-US" sz="1050" dirty="0"/>
          </a:p>
        </p:txBody>
      </p:sp>
      <p:sp>
        <p:nvSpPr>
          <p:cNvPr id="15" name="Text 13"/>
          <p:cNvSpPr/>
          <p:nvPr/>
        </p:nvSpPr>
        <p:spPr>
          <a:xfrm>
            <a:off x="6007608" y="2606040"/>
            <a:ext cx="182880" cy="457200"/>
          </a:xfrm>
          <a:prstGeom prst="rect">
            <a:avLst/>
          </a:prstGeom>
          <a:noFill/>
          <a:ln/>
        </p:spPr>
        <p:txBody>
          <a:bodyPr wrap="square" lIns="0" tIns="0" rIns="0" bIns="0" rtlCol="0" anchor="ctr"/>
          <a:lstStyle/>
          <a:p>
            <a:pPr marL="0" indent="0" algn="ctr">
              <a:buNone/>
            </a:pPr>
            <a:r>
              <a:rPr lang="en-US" sz="1800" b="1" dirty="0">
                <a:solidFill>
                  <a:srgbClr val="D4A017"/>
                </a:solidFill>
              </a:rPr>
              <a:t>→</a:t>
            </a:r>
            <a:endParaRPr lang="en-US" sz="1800" dirty="0"/>
          </a:p>
        </p:txBody>
      </p:sp>
      <p:sp>
        <p:nvSpPr>
          <p:cNvPr id="16" name="Shape 14"/>
          <p:cNvSpPr/>
          <p:nvPr/>
        </p:nvSpPr>
        <p:spPr>
          <a:xfrm>
            <a:off x="6144768" y="896112"/>
            <a:ext cx="2788920" cy="4041648"/>
          </a:xfrm>
          <a:prstGeom prst="roundRect">
            <a:avLst>
              <a:gd name="adj" fmla="val 3934"/>
            </a:avLst>
          </a:prstGeom>
          <a:solidFill>
            <a:srgbClr val="E8F8F0"/>
          </a:solidFill>
          <a:ln w="19050">
            <a:solidFill>
              <a:srgbClr val="82D9AA"/>
            </a:solidFill>
            <a:prstDash val="solid"/>
          </a:ln>
          <a:effectLst>
            <a:outerShdw blurRad="127000" dist="38100" dir="2700000" algn="bl" rotWithShape="0">
              <a:srgbClr val="000000">
                <a:alpha val="14000"/>
              </a:srgbClr>
            </a:outerShdw>
          </a:effectLst>
        </p:spPr>
      </p:sp>
      <p:sp>
        <p:nvSpPr>
          <p:cNvPr id="17" name="Shape 15"/>
          <p:cNvSpPr/>
          <p:nvPr/>
        </p:nvSpPr>
        <p:spPr>
          <a:xfrm>
            <a:off x="7191756" y="960120"/>
            <a:ext cx="694944" cy="694944"/>
          </a:xfrm>
          <a:prstGeom prst="ellipse">
            <a:avLst/>
          </a:prstGeom>
          <a:solidFill>
            <a:srgbClr val="1A6B3C"/>
          </a:solidFill>
          <a:ln w="12700">
            <a:solidFill>
              <a:srgbClr val="1A6B3C"/>
            </a:solidFill>
            <a:prstDash val="solid"/>
          </a:ln>
        </p:spPr>
      </p:sp>
      <p:sp>
        <p:nvSpPr>
          <p:cNvPr id="18" name="Text 16"/>
          <p:cNvSpPr/>
          <p:nvPr/>
        </p:nvSpPr>
        <p:spPr>
          <a:xfrm>
            <a:off x="7191756" y="996696"/>
            <a:ext cx="694944" cy="57607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6254496" y="1737360"/>
            <a:ext cx="2569464" cy="457200"/>
          </a:xfrm>
          <a:prstGeom prst="rect">
            <a:avLst/>
          </a:prstGeom>
          <a:noFill/>
          <a:ln/>
        </p:spPr>
        <p:txBody>
          <a:bodyPr wrap="square" lIns="0" tIns="0" rIns="0" bIns="0" rtlCol="0" anchor="ctr"/>
          <a:lstStyle/>
          <a:p>
            <a:pPr marL="0" indent="0" algn="ctr">
              <a:buNone/>
            </a:pPr>
            <a:r>
              <a:rPr lang="en-US" sz="1300" b="1" dirty="0">
                <a:solidFill>
                  <a:srgbClr val="1A6B3C"/>
                </a:solidFill>
                <a:latin typeface="Calibri" pitchFamily="34" charset="0"/>
                <a:ea typeface="Calibri" pitchFamily="34" charset="-122"/>
                <a:cs typeface="Calibri" pitchFamily="34" charset="-120"/>
              </a:rPr>
              <a:t>Print &amp; Hand Over</a:t>
            </a:r>
            <a:endParaRPr lang="en-US" sz="1300" dirty="0"/>
          </a:p>
        </p:txBody>
      </p:sp>
      <p:sp>
        <p:nvSpPr>
          <p:cNvPr id="20" name="Text 18"/>
          <p:cNvSpPr/>
          <p:nvPr/>
        </p:nvSpPr>
        <p:spPr>
          <a:xfrm>
            <a:off x="6309360" y="2304288"/>
            <a:ext cx="2496312" cy="2468880"/>
          </a:xfrm>
          <a:prstGeom prst="rect">
            <a:avLst/>
          </a:prstGeom>
          <a:noFill/>
          <a:ln/>
        </p:spPr>
        <p:txBody>
          <a:bodyPr wrap="square" rtlCol="0" anchor="ctr"/>
          <a:lstStyle/>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Official dual-copy A4 PDF auto-generated</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Exact GHMC Act format (Sections 402, 421…)</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Photo evidence embedded in PDF</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Download or print directly in field</a:t>
            </a:r>
            <a:endParaRPr lang="en-US" sz="1050" dirty="0"/>
          </a:p>
          <a:p>
            <a:pPr marL="342900" indent="-342900">
              <a:spcAft>
                <a:spcPts val="400"/>
              </a:spcAft>
              <a:buSzPct val="100000"/>
              <a:buChar char="•"/>
            </a:pPr>
            <a:r>
              <a:rPr lang="en-US" sz="1050" dirty="0">
                <a:solidFill>
                  <a:srgbClr val="2C3E50"/>
                </a:solidFill>
                <a:latin typeface="Calibri" pitchFamily="34" charset="0"/>
                <a:ea typeface="Calibri" pitchFamily="34" charset="-122"/>
                <a:cs typeface="Calibri" pitchFamily="34" charset="-120"/>
              </a:rPr>
              <a:t>Hand physical copy to violator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3580"/>
          </a:solidFill>
          <a:ln w="12700">
            <a:solidFill>
              <a:srgbClr val="003580"/>
            </a:solidFill>
            <a:prstDash val="solid"/>
          </a:ln>
        </p:spPr>
      </p:sp>
      <p:sp>
        <p:nvSpPr>
          <p:cNvPr id="3" name="Text 1"/>
          <p:cNvSpPr/>
          <p:nvPr/>
        </p:nvSpPr>
        <p:spPr>
          <a:xfrm>
            <a:off x="365760" y="73152"/>
            <a:ext cx="8412480" cy="59436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Key Features &amp; User Roles</a:t>
            </a:r>
            <a:endParaRPr lang="en-US" sz="2200" dirty="0"/>
          </a:p>
        </p:txBody>
      </p:sp>
      <p:sp>
        <p:nvSpPr>
          <p:cNvPr id="4" name="Shape 2"/>
          <p:cNvSpPr/>
          <p:nvPr/>
        </p:nvSpPr>
        <p:spPr>
          <a:xfrm>
            <a:off x="274320" y="914400"/>
            <a:ext cx="2121408" cy="1170432"/>
          </a:xfrm>
          <a:prstGeom prst="roundRect">
            <a:avLst>
              <a:gd name="adj" fmla="val 7813"/>
            </a:avLst>
          </a:prstGeom>
          <a:solidFill>
            <a:srgbClr val="FFFFFF"/>
          </a:solidFill>
          <a:ln w="12700">
            <a:solidFill>
              <a:srgbClr val="D0DCF0"/>
            </a:solidFill>
            <a:prstDash val="solid"/>
          </a:ln>
          <a:effectLst>
            <a:outerShdw blurRad="127000" dist="38100" dir="2700000" algn="bl" rotWithShape="0">
              <a:srgbClr val="000000">
                <a:alpha val="14000"/>
              </a:srgbClr>
            </a:outerShdw>
          </a:effectLst>
        </p:spPr>
      </p:sp>
      <p:sp>
        <p:nvSpPr>
          <p:cNvPr id="5" name="Text 3"/>
          <p:cNvSpPr/>
          <p:nvPr/>
        </p:nvSpPr>
        <p:spPr>
          <a:xfrm>
            <a:off x="365760" y="987552"/>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841248" y="1005840"/>
            <a:ext cx="1463040" cy="274320"/>
          </a:xfrm>
          <a:prstGeom prst="rect">
            <a:avLst/>
          </a:prstGeom>
          <a:noFill/>
          <a:ln/>
        </p:spPr>
        <p:txBody>
          <a:bodyPr wrap="square" lIns="0" tIns="0" rIns="0" bIns="0" rtlCol="0" anchor="ctr"/>
          <a:lstStyle/>
          <a:p>
            <a:pPr marL="0" indent="0">
              <a:buNone/>
            </a:pPr>
            <a:r>
              <a:rPr lang="en-US" sz="1050" b="1" dirty="0">
                <a:solidFill>
                  <a:srgbClr val="0D1B40"/>
                </a:solidFill>
                <a:latin typeface="Calibri" pitchFamily="34" charset="0"/>
                <a:ea typeface="Calibri" pitchFamily="34" charset="-122"/>
                <a:cs typeface="Calibri" pitchFamily="34" charset="-120"/>
              </a:rPr>
              <a:t>11 Violation Types</a:t>
            </a:r>
            <a:endParaRPr lang="en-US" sz="1050" dirty="0"/>
          </a:p>
        </p:txBody>
      </p:sp>
      <p:sp>
        <p:nvSpPr>
          <p:cNvPr id="7" name="Text 5"/>
          <p:cNvSpPr/>
          <p:nvPr/>
        </p:nvSpPr>
        <p:spPr>
          <a:xfrm>
            <a:off x="841248" y="1298448"/>
            <a:ext cx="1463040" cy="502920"/>
          </a:xfrm>
          <a:prstGeom prst="rect">
            <a:avLst/>
          </a:prstGeom>
          <a:noFill/>
          <a:ln/>
        </p:spPr>
        <p:txBody>
          <a:bodyPr wrap="square" lIns="0" tIns="0" rIns="0" bIns="0" rtlCol="0" anchor="ctr"/>
          <a:lstStyle/>
          <a:p>
            <a:pPr marL="0" indent="0">
              <a:buNone/>
            </a:pPr>
            <a:r>
              <a:rPr lang="en-US" sz="900" dirty="0">
                <a:solidFill>
                  <a:srgbClr val="3A4A6B"/>
                </a:solidFill>
                <a:latin typeface="Calibri" pitchFamily="34" charset="0"/>
                <a:ea typeface="Calibri" pitchFamily="34" charset="-122"/>
                <a:cs typeface="Calibri" pitchFamily="34" charset="-120"/>
              </a:rPr>
              <a:t>Predefined with official fine amounts</a:t>
            </a:r>
            <a:endParaRPr lang="en-US" sz="900" dirty="0"/>
          </a:p>
        </p:txBody>
      </p:sp>
      <p:sp>
        <p:nvSpPr>
          <p:cNvPr id="8" name="Shape 6"/>
          <p:cNvSpPr/>
          <p:nvPr/>
        </p:nvSpPr>
        <p:spPr>
          <a:xfrm>
            <a:off x="2606040" y="914400"/>
            <a:ext cx="2121408" cy="1170432"/>
          </a:xfrm>
          <a:prstGeom prst="roundRect">
            <a:avLst>
              <a:gd name="adj" fmla="val 7813"/>
            </a:avLst>
          </a:prstGeom>
          <a:solidFill>
            <a:srgbClr val="FFFFFF"/>
          </a:solidFill>
          <a:ln w="12700">
            <a:solidFill>
              <a:srgbClr val="D0DCF0"/>
            </a:solidFill>
            <a:prstDash val="solid"/>
          </a:ln>
          <a:effectLst>
            <a:outerShdw blurRad="127000" dist="38100" dir="2700000" algn="bl" rotWithShape="0">
              <a:srgbClr val="000000">
                <a:alpha val="14000"/>
              </a:srgbClr>
            </a:outerShdw>
          </a:effectLst>
        </p:spPr>
      </p:sp>
      <p:sp>
        <p:nvSpPr>
          <p:cNvPr id="9" name="Text 7"/>
          <p:cNvSpPr/>
          <p:nvPr/>
        </p:nvSpPr>
        <p:spPr>
          <a:xfrm>
            <a:off x="2697480" y="987552"/>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172968" y="1005840"/>
            <a:ext cx="1463040" cy="274320"/>
          </a:xfrm>
          <a:prstGeom prst="rect">
            <a:avLst/>
          </a:prstGeom>
          <a:noFill/>
          <a:ln/>
        </p:spPr>
        <p:txBody>
          <a:bodyPr wrap="square" lIns="0" tIns="0" rIns="0" bIns="0" rtlCol="0" anchor="ctr"/>
          <a:lstStyle/>
          <a:p>
            <a:pPr marL="0" indent="0">
              <a:buNone/>
            </a:pPr>
            <a:r>
              <a:rPr lang="en-US" sz="1050" b="1" dirty="0">
                <a:solidFill>
                  <a:srgbClr val="0D1B40"/>
                </a:solidFill>
                <a:latin typeface="Calibri" pitchFamily="34" charset="0"/>
                <a:ea typeface="Calibri" pitchFamily="34" charset="-122"/>
                <a:cs typeface="Calibri" pitchFamily="34" charset="-120"/>
              </a:rPr>
              <a:t>Photo Evidence</a:t>
            </a:r>
            <a:endParaRPr lang="en-US" sz="1050" dirty="0"/>
          </a:p>
        </p:txBody>
      </p:sp>
      <p:sp>
        <p:nvSpPr>
          <p:cNvPr id="11" name="Text 9"/>
          <p:cNvSpPr/>
          <p:nvPr/>
        </p:nvSpPr>
        <p:spPr>
          <a:xfrm>
            <a:off x="3172968" y="1298448"/>
            <a:ext cx="1463040" cy="502920"/>
          </a:xfrm>
          <a:prstGeom prst="rect">
            <a:avLst/>
          </a:prstGeom>
          <a:noFill/>
          <a:ln/>
        </p:spPr>
        <p:txBody>
          <a:bodyPr wrap="square" lIns="0" tIns="0" rIns="0" bIns="0" rtlCol="0" anchor="ctr"/>
          <a:lstStyle/>
          <a:p>
            <a:pPr marL="0" indent="0">
              <a:buNone/>
            </a:pPr>
            <a:r>
              <a:rPr lang="en-US" sz="900" dirty="0">
                <a:solidFill>
                  <a:srgbClr val="3A4A6B"/>
                </a:solidFill>
                <a:latin typeface="Calibri" pitchFamily="34" charset="0"/>
                <a:ea typeface="Calibri" pitchFamily="34" charset="-122"/>
                <a:cs typeface="Calibri" pitchFamily="34" charset="-120"/>
              </a:rPr>
              <a:t>Embedded in both email &amp; PDF</a:t>
            </a:r>
            <a:endParaRPr lang="en-US" sz="900" dirty="0"/>
          </a:p>
        </p:txBody>
      </p:sp>
      <p:sp>
        <p:nvSpPr>
          <p:cNvPr id="12" name="Shape 10"/>
          <p:cNvSpPr/>
          <p:nvPr/>
        </p:nvSpPr>
        <p:spPr>
          <a:xfrm>
            <a:off x="274320" y="2258568"/>
            <a:ext cx="2121408" cy="1170432"/>
          </a:xfrm>
          <a:prstGeom prst="roundRect">
            <a:avLst>
              <a:gd name="adj" fmla="val 7813"/>
            </a:avLst>
          </a:prstGeom>
          <a:solidFill>
            <a:srgbClr val="FFFFFF"/>
          </a:solidFill>
          <a:ln w="12700">
            <a:solidFill>
              <a:srgbClr val="D0DCF0"/>
            </a:solidFill>
            <a:prstDash val="solid"/>
          </a:ln>
          <a:effectLst>
            <a:outerShdw blurRad="127000" dist="38100" dir="2700000" algn="bl" rotWithShape="0">
              <a:srgbClr val="000000">
                <a:alpha val="14000"/>
              </a:srgbClr>
            </a:outerShdw>
          </a:effectLst>
        </p:spPr>
      </p:sp>
      <p:sp>
        <p:nvSpPr>
          <p:cNvPr id="13" name="Text 11"/>
          <p:cNvSpPr/>
          <p:nvPr/>
        </p:nvSpPr>
        <p:spPr>
          <a:xfrm>
            <a:off x="365760" y="2331720"/>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841248" y="2350008"/>
            <a:ext cx="1463040" cy="274320"/>
          </a:xfrm>
          <a:prstGeom prst="rect">
            <a:avLst/>
          </a:prstGeom>
          <a:noFill/>
          <a:ln/>
        </p:spPr>
        <p:txBody>
          <a:bodyPr wrap="square" lIns="0" tIns="0" rIns="0" bIns="0" rtlCol="0" anchor="ctr"/>
          <a:lstStyle/>
          <a:p>
            <a:pPr marL="0" indent="0">
              <a:buNone/>
            </a:pPr>
            <a:r>
              <a:rPr lang="en-US" sz="1050" b="1" dirty="0">
                <a:solidFill>
                  <a:srgbClr val="0D1B40"/>
                </a:solidFill>
                <a:latin typeface="Calibri" pitchFamily="34" charset="0"/>
                <a:ea typeface="Calibri" pitchFamily="34" charset="-122"/>
                <a:cs typeface="Calibri" pitchFamily="34" charset="-120"/>
              </a:rPr>
              <a:t>Instant Email</a:t>
            </a:r>
            <a:endParaRPr lang="en-US" sz="1050" dirty="0"/>
          </a:p>
        </p:txBody>
      </p:sp>
      <p:sp>
        <p:nvSpPr>
          <p:cNvPr id="15" name="Text 13"/>
          <p:cNvSpPr/>
          <p:nvPr/>
        </p:nvSpPr>
        <p:spPr>
          <a:xfrm>
            <a:off x="841248" y="2642616"/>
            <a:ext cx="1463040" cy="502920"/>
          </a:xfrm>
          <a:prstGeom prst="rect">
            <a:avLst/>
          </a:prstGeom>
          <a:noFill/>
          <a:ln/>
        </p:spPr>
        <p:txBody>
          <a:bodyPr wrap="square" lIns="0" tIns="0" rIns="0" bIns="0" rtlCol="0" anchor="ctr"/>
          <a:lstStyle/>
          <a:p>
            <a:pPr marL="0" indent="0">
              <a:buNone/>
            </a:pPr>
            <a:r>
              <a:rPr lang="en-US" sz="900" dirty="0">
                <a:solidFill>
                  <a:srgbClr val="3A4A6B"/>
                </a:solidFill>
                <a:latin typeface="Calibri" pitchFamily="34" charset="0"/>
                <a:ea typeface="Calibri" pitchFamily="34" charset="-122"/>
                <a:cs typeface="Calibri" pitchFamily="34" charset="-120"/>
              </a:rPr>
              <a:t>Multi-officer dispatch in one click</a:t>
            </a:r>
            <a:endParaRPr lang="en-US" sz="900" dirty="0"/>
          </a:p>
        </p:txBody>
      </p:sp>
      <p:sp>
        <p:nvSpPr>
          <p:cNvPr id="16" name="Shape 14"/>
          <p:cNvSpPr/>
          <p:nvPr/>
        </p:nvSpPr>
        <p:spPr>
          <a:xfrm>
            <a:off x="2606040" y="2258568"/>
            <a:ext cx="2121408" cy="1170432"/>
          </a:xfrm>
          <a:prstGeom prst="roundRect">
            <a:avLst>
              <a:gd name="adj" fmla="val 7813"/>
            </a:avLst>
          </a:prstGeom>
          <a:solidFill>
            <a:srgbClr val="FFFFFF"/>
          </a:solidFill>
          <a:ln w="12700">
            <a:solidFill>
              <a:srgbClr val="D0DCF0"/>
            </a:solidFill>
            <a:prstDash val="solid"/>
          </a:ln>
          <a:effectLst>
            <a:outerShdw blurRad="127000" dist="38100" dir="2700000" algn="bl" rotWithShape="0">
              <a:srgbClr val="000000">
                <a:alpha val="14000"/>
              </a:srgbClr>
            </a:outerShdw>
          </a:effectLst>
        </p:spPr>
      </p:sp>
      <p:sp>
        <p:nvSpPr>
          <p:cNvPr id="17" name="Text 15"/>
          <p:cNvSpPr/>
          <p:nvPr/>
        </p:nvSpPr>
        <p:spPr>
          <a:xfrm>
            <a:off x="2697480" y="2331720"/>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3172968" y="2350008"/>
            <a:ext cx="1463040" cy="274320"/>
          </a:xfrm>
          <a:prstGeom prst="rect">
            <a:avLst/>
          </a:prstGeom>
          <a:noFill/>
          <a:ln/>
        </p:spPr>
        <p:txBody>
          <a:bodyPr wrap="square" lIns="0" tIns="0" rIns="0" bIns="0" rtlCol="0" anchor="ctr"/>
          <a:lstStyle/>
          <a:p>
            <a:pPr marL="0" indent="0">
              <a:buNone/>
            </a:pPr>
            <a:r>
              <a:rPr lang="en-US" sz="1050" b="1" dirty="0">
                <a:solidFill>
                  <a:srgbClr val="0D1B40"/>
                </a:solidFill>
                <a:latin typeface="Calibri" pitchFamily="34" charset="0"/>
                <a:ea typeface="Calibri" pitchFamily="34" charset="-122"/>
                <a:cs typeface="Calibri" pitchFamily="34" charset="-120"/>
              </a:rPr>
              <a:t>Official PDF</a:t>
            </a:r>
            <a:endParaRPr lang="en-US" sz="1050" dirty="0"/>
          </a:p>
        </p:txBody>
      </p:sp>
      <p:sp>
        <p:nvSpPr>
          <p:cNvPr id="19" name="Text 17"/>
          <p:cNvSpPr/>
          <p:nvPr/>
        </p:nvSpPr>
        <p:spPr>
          <a:xfrm>
            <a:off x="3172968" y="2642616"/>
            <a:ext cx="1463040" cy="502920"/>
          </a:xfrm>
          <a:prstGeom prst="rect">
            <a:avLst/>
          </a:prstGeom>
          <a:noFill/>
          <a:ln/>
        </p:spPr>
        <p:txBody>
          <a:bodyPr wrap="square" lIns="0" tIns="0" rIns="0" bIns="0" rtlCol="0" anchor="ctr"/>
          <a:lstStyle/>
          <a:p>
            <a:pPr marL="0" indent="0">
              <a:buNone/>
            </a:pPr>
            <a:r>
              <a:rPr lang="en-US" sz="900" dirty="0">
                <a:solidFill>
                  <a:srgbClr val="3A4A6B"/>
                </a:solidFill>
                <a:latin typeface="Calibri" pitchFamily="34" charset="0"/>
                <a:ea typeface="Calibri" pitchFamily="34" charset="-122"/>
                <a:cs typeface="Calibri" pitchFamily="34" charset="-120"/>
              </a:rPr>
              <a:t>GHMC Act format, dual-copy A4</a:t>
            </a:r>
            <a:endParaRPr lang="en-US" sz="900" dirty="0"/>
          </a:p>
        </p:txBody>
      </p:sp>
      <p:sp>
        <p:nvSpPr>
          <p:cNvPr id="20" name="Shape 18"/>
          <p:cNvSpPr/>
          <p:nvPr/>
        </p:nvSpPr>
        <p:spPr>
          <a:xfrm>
            <a:off x="274320" y="3602736"/>
            <a:ext cx="2121408" cy="1170432"/>
          </a:xfrm>
          <a:prstGeom prst="roundRect">
            <a:avLst>
              <a:gd name="adj" fmla="val 7813"/>
            </a:avLst>
          </a:prstGeom>
          <a:solidFill>
            <a:srgbClr val="FFFFFF"/>
          </a:solidFill>
          <a:ln w="12700">
            <a:solidFill>
              <a:srgbClr val="D0DCF0"/>
            </a:solidFill>
            <a:prstDash val="solid"/>
          </a:ln>
          <a:effectLst>
            <a:outerShdw blurRad="127000" dist="38100" dir="2700000" algn="bl" rotWithShape="0">
              <a:srgbClr val="000000">
                <a:alpha val="14000"/>
              </a:srgbClr>
            </a:outerShdw>
          </a:effectLst>
        </p:spPr>
      </p:sp>
      <p:sp>
        <p:nvSpPr>
          <p:cNvPr id="21" name="Text 19"/>
          <p:cNvSpPr/>
          <p:nvPr/>
        </p:nvSpPr>
        <p:spPr>
          <a:xfrm>
            <a:off x="365760" y="367588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841248" y="3694176"/>
            <a:ext cx="1463040" cy="274320"/>
          </a:xfrm>
          <a:prstGeom prst="rect">
            <a:avLst/>
          </a:prstGeom>
          <a:noFill/>
          <a:ln/>
        </p:spPr>
        <p:txBody>
          <a:bodyPr wrap="square" lIns="0" tIns="0" rIns="0" bIns="0" rtlCol="0" anchor="ctr"/>
          <a:lstStyle/>
          <a:p>
            <a:pPr marL="0" indent="0">
              <a:buNone/>
            </a:pPr>
            <a:r>
              <a:rPr lang="en-US" sz="1050" b="1" dirty="0">
                <a:solidFill>
                  <a:srgbClr val="0D1B40"/>
                </a:solidFill>
                <a:latin typeface="Calibri" pitchFamily="34" charset="0"/>
                <a:ea typeface="Calibri" pitchFamily="34" charset="-122"/>
                <a:cs typeface="Calibri" pitchFamily="34" charset="-120"/>
              </a:rPr>
              <a:t>Secure Access</a:t>
            </a:r>
            <a:endParaRPr lang="en-US" sz="1050" dirty="0"/>
          </a:p>
        </p:txBody>
      </p:sp>
      <p:sp>
        <p:nvSpPr>
          <p:cNvPr id="23" name="Text 21"/>
          <p:cNvSpPr/>
          <p:nvPr/>
        </p:nvSpPr>
        <p:spPr>
          <a:xfrm>
            <a:off x="841248" y="3986784"/>
            <a:ext cx="1463040" cy="502920"/>
          </a:xfrm>
          <a:prstGeom prst="rect">
            <a:avLst/>
          </a:prstGeom>
          <a:noFill/>
          <a:ln/>
        </p:spPr>
        <p:txBody>
          <a:bodyPr wrap="square" lIns="0" tIns="0" rIns="0" bIns="0" rtlCol="0" anchor="ctr"/>
          <a:lstStyle/>
          <a:p>
            <a:pPr marL="0" indent="0">
              <a:buNone/>
            </a:pPr>
            <a:r>
              <a:rPr lang="en-US" sz="900" dirty="0">
                <a:solidFill>
                  <a:srgbClr val="3A4A6B"/>
                </a:solidFill>
                <a:latin typeface="Calibri" pitchFamily="34" charset="0"/>
                <a:ea typeface="Calibri" pitchFamily="34" charset="-122"/>
                <a:cs typeface="Calibri" pitchFamily="34" charset="-120"/>
              </a:rPr>
              <a:t>JWT auth, admin-approved workers</a:t>
            </a:r>
            <a:endParaRPr lang="en-US" sz="900" dirty="0"/>
          </a:p>
        </p:txBody>
      </p:sp>
      <p:sp>
        <p:nvSpPr>
          <p:cNvPr id="24" name="Shape 22"/>
          <p:cNvSpPr/>
          <p:nvPr/>
        </p:nvSpPr>
        <p:spPr>
          <a:xfrm>
            <a:off x="2606040" y="3602736"/>
            <a:ext cx="2121408" cy="1170432"/>
          </a:xfrm>
          <a:prstGeom prst="roundRect">
            <a:avLst>
              <a:gd name="adj" fmla="val 7813"/>
            </a:avLst>
          </a:prstGeom>
          <a:solidFill>
            <a:srgbClr val="FFFFFF"/>
          </a:solidFill>
          <a:ln w="12700">
            <a:solidFill>
              <a:srgbClr val="D0DCF0"/>
            </a:solidFill>
            <a:prstDash val="solid"/>
          </a:ln>
          <a:effectLst>
            <a:outerShdw blurRad="127000" dist="38100" dir="2700000" algn="bl" rotWithShape="0">
              <a:srgbClr val="000000">
                <a:alpha val="14000"/>
              </a:srgbClr>
            </a:outerShdw>
          </a:effectLst>
        </p:spPr>
      </p:sp>
      <p:sp>
        <p:nvSpPr>
          <p:cNvPr id="25" name="Text 23"/>
          <p:cNvSpPr/>
          <p:nvPr/>
        </p:nvSpPr>
        <p:spPr>
          <a:xfrm>
            <a:off x="2697480" y="3675888"/>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3172968" y="3694176"/>
            <a:ext cx="1463040" cy="274320"/>
          </a:xfrm>
          <a:prstGeom prst="rect">
            <a:avLst/>
          </a:prstGeom>
          <a:noFill/>
          <a:ln/>
        </p:spPr>
        <p:txBody>
          <a:bodyPr wrap="square" lIns="0" tIns="0" rIns="0" bIns="0" rtlCol="0" anchor="ctr"/>
          <a:lstStyle/>
          <a:p>
            <a:pPr marL="0" indent="0">
              <a:buNone/>
            </a:pPr>
            <a:r>
              <a:rPr lang="en-US" sz="1050" b="1" dirty="0">
                <a:solidFill>
                  <a:srgbClr val="0D1B40"/>
                </a:solidFill>
                <a:latin typeface="Calibri" pitchFamily="34" charset="0"/>
                <a:ea typeface="Calibri" pitchFamily="34" charset="-122"/>
                <a:cs typeface="Calibri" pitchFamily="34" charset="-120"/>
              </a:rPr>
              <a:t>Division Isolation</a:t>
            </a:r>
            <a:endParaRPr lang="en-US" sz="1050" dirty="0"/>
          </a:p>
        </p:txBody>
      </p:sp>
      <p:sp>
        <p:nvSpPr>
          <p:cNvPr id="27" name="Text 25"/>
          <p:cNvSpPr/>
          <p:nvPr/>
        </p:nvSpPr>
        <p:spPr>
          <a:xfrm>
            <a:off x="3172968" y="3986784"/>
            <a:ext cx="1463040" cy="502920"/>
          </a:xfrm>
          <a:prstGeom prst="rect">
            <a:avLst/>
          </a:prstGeom>
          <a:noFill/>
          <a:ln/>
        </p:spPr>
        <p:txBody>
          <a:bodyPr wrap="square" lIns="0" tIns="0" rIns="0" bIns="0" rtlCol="0" anchor="ctr"/>
          <a:lstStyle/>
          <a:p>
            <a:pPr marL="0" indent="0">
              <a:buNone/>
            </a:pPr>
            <a:r>
              <a:rPr lang="en-US" sz="900" dirty="0">
                <a:solidFill>
                  <a:srgbClr val="3A4A6B"/>
                </a:solidFill>
                <a:latin typeface="Calibri" pitchFamily="34" charset="0"/>
                <a:ea typeface="Calibri" pitchFamily="34" charset="-122"/>
                <a:cs typeface="Calibri" pitchFamily="34" charset="-120"/>
              </a:rPr>
              <a:t>Workers see only their division data</a:t>
            </a:r>
            <a:endParaRPr lang="en-US" sz="900" dirty="0"/>
          </a:p>
        </p:txBody>
      </p:sp>
      <p:sp>
        <p:nvSpPr>
          <p:cNvPr id="28" name="Shape 26"/>
          <p:cNvSpPr/>
          <p:nvPr/>
        </p:nvSpPr>
        <p:spPr>
          <a:xfrm>
            <a:off x="4983480" y="914400"/>
            <a:ext cx="3886200" cy="1920240"/>
          </a:xfrm>
          <a:prstGeom prst="roundRect">
            <a:avLst>
              <a:gd name="adj" fmla="val 5714"/>
            </a:avLst>
          </a:prstGeom>
          <a:solidFill>
            <a:srgbClr val="E8EDF8"/>
          </a:solidFill>
          <a:ln w="19050">
            <a:solidFill>
              <a:srgbClr val="B0C4E8"/>
            </a:solidFill>
            <a:prstDash val="solid"/>
          </a:ln>
          <a:effectLst>
            <a:outerShdw blurRad="127000" dist="38100" dir="2700000" algn="bl" rotWithShape="0">
              <a:srgbClr val="000000">
                <a:alpha val="14000"/>
              </a:srgbClr>
            </a:outerShdw>
          </a:effectLst>
        </p:spPr>
      </p:sp>
      <p:sp>
        <p:nvSpPr>
          <p:cNvPr id="29" name="Text 27"/>
          <p:cNvSpPr/>
          <p:nvPr/>
        </p:nvSpPr>
        <p:spPr>
          <a:xfrm>
            <a:off x="5138928" y="1005840"/>
            <a:ext cx="3566160" cy="347472"/>
          </a:xfrm>
          <a:prstGeom prst="rect">
            <a:avLst/>
          </a:prstGeom>
          <a:noFill/>
          <a:ln/>
        </p:spPr>
        <p:txBody>
          <a:bodyPr wrap="square" lIns="0" tIns="0" rIns="0" bIns="0" rtlCol="0" anchor="ctr"/>
          <a:lstStyle/>
          <a:p>
            <a:pPr marL="0" indent="0">
              <a:buNone/>
            </a:pPr>
            <a:r>
              <a:rPr lang="en-US" sz="1150" b="1" dirty="0">
                <a:solidFill>
                  <a:srgbClr val="003580"/>
                </a:solidFill>
                <a:latin typeface="Calibri" pitchFamily="34" charset="0"/>
                <a:ea typeface="Calibri" pitchFamily="34" charset="-122"/>
                <a:cs typeface="Calibri" pitchFamily="34" charset="-120"/>
              </a:rPr>
              <a:t>👮  Admin Role  (Commissioner / Officer)</a:t>
            </a:r>
            <a:endParaRPr lang="en-US" sz="1150" dirty="0"/>
          </a:p>
        </p:txBody>
      </p:sp>
      <p:sp>
        <p:nvSpPr>
          <p:cNvPr id="30" name="Text 28"/>
          <p:cNvSpPr/>
          <p:nvPr/>
        </p:nvSpPr>
        <p:spPr>
          <a:xfrm>
            <a:off x="5138928" y="1417320"/>
            <a:ext cx="3566160" cy="1188720"/>
          </a:xfrm>
          <a:prstGeom prst="rect">
            <a:avLst/>
          </a:prstGeom>
          <a:noFill/>
          <a:ln/>
        </p:spPr>
        <p:txBody>
          <a:bodyPr wrap="square" rtlCol="0" anchor="ctr"/>
          <a:lstStyle/>
          <a:p>
            <a:pPr marL="342900" indent="-342900">
              <a:spcAft>
                <a:spcPts val="300"/>
              </a:spcAft>
              <a:buSzPct val="100000"/>
              <a:buChar char="•"/>
            </a:pPr>
            <a:r>
              <a:rPr lang="en-US" sz="1050" dirty="0">
                <a:solidFill>
                  <a:srgbClr val="0D1B40"/>
                </a:solidFill>
                <a:latin typeface="Calibri" pitchFamily="34" charset="0"/>
                <a:ea typeface="Calibri" pitchFamily="34" charset="-122"/>
                <a:cs typeface="Calibri" pitchFamily="34" charset="-120"/>
              </a:rPr>
              <a:t>View all challans across every division</a:t>
            </a:r>
            <a:endParaRPr lang="en-US" sz="1050" dirty="0"/>
          </a:p>
          <a:p>
            <a:pPr marL="342900" indent="-342900">
              <a:spcAft>
                <a:spcPts val="300"/>
              </a:spcAft>
              <a:buSzPct val="100000"/>
              <a:buChar char="•"/>
            </a:pPr>
            <a:r>
              <a:rPr lang="en-US" sz="1050" dirty="0">
                <a:solidFill>
                  <a:srgbClr val="0D1B40"/>
                </a:solidFill>
                <a:latin typeface="Calibri" pitchFamily="34" charset="0"/>
                <a:ea typeface="Calibri" pitchFamily="34" charset="-122"/>
                <a:cs typeface="Calibri" pitchFamily="34" charset="-120"/>
              </a:rPr>
              <a:t>Approve or revoke worker access</a:t>
            </a:r>
            <a:endParaRPr lang="en-US" sz="1050" dirty="0"/>
          </a:p>
          <a:p>
            <a:pPr marL="342900" indent="-342900">
              <a:spcAft>
                <a:spcPts val="300"/>
              </a:spcAft>
              <a:buSzPct val="100000"/>
              <a:buChar char="•"/>
            </a:pPr>
            <a:r>
              <a:rPr lang="en-US" sz="1050" dirty="0">
                <a:solidFill>
                  <a:srgbClr val="0D1B40"/>
                </a:solidFill>
                <a:latin typeface="Calibri" pitchFamily="34" charset="0"/>
                <a:ea typeface="Calibri" pitchFamily="34" charset="-122"/>
                <a:cs typeface="Calibri" pitchFamily="34" charset="-120"/>
              </a:rPr>
              <a:t>Division-wise statistics &amp; fine totals</a:t>
            </a:r>
            <a:endParaRPr lang="en-US" sz="1050" dirty="0"/>
          </a:p>
        </p:txBody>
      </p:sp>
      <p:sp>
        <p:nvSpPr>
          <p:cNvPr id="31" name="Shape 29"/>
          <p:cNvSpPr/>
          <p:nvPr/>
        </p:nvSpPr>
        <p:spPr>
          <a:xfrm>
            <a:off x="4983480" y="2999232"/>
            <a:ext cx="3886200" cy="1920240"/>
          </a:xfrm>
          <a:prstGeom prst="roundRect">
            <a:avLst>
              <a:gd name="adj" fmla="val 5714"/>
            </a:avLst>
          </a:prstGeom>
          <a:solidFill>
            <a:srgbClr val="EEF8F2"/>
          </a:solidFill>
          <a:ln w="19050">
            <a:solidFill>
              <a:srgbClr val="A8D8BF"/>
            </a:solidFill>
            <a:prstDash val="solid"/>
          </a:ln>
          <a:effectLst>
            <a:outerShdw blurRad="127000" dist="38100" dir="2700000" algn="bl" rotWithShape="0">
              <a:srgbClr val="000000">
                <a:alpha val="14000"/>
              </a:srgbClr>
            </a:outerShdw>
          </a:effectLst>
        </p:spPr>
      </p:sp>
      <p:sp>
        <p:nvSpPr>
          <p:cNvPr id="32" name="Text 30"/>
          <p:cNvSpPr/>
          <p:nvPr/>
        </p:nvSpPr>
        <p:spPr>
          <a:xfrm>
            <a:off x="5138928" y="3090672"/>
            <a:ext cx="3566160" cy="347472"/>
          </a:xfrm>
          <a:prstGeom prst="rect">
            <a:avLst/>
          </a:prstGeom>
          <a:noFill/>
          <a:ln/>
        </p:spPr>
        <p:txBody>
          <a:bodyPr wrap="square" lIns="0" tIns="0" rIns="0" bIns="0" rtlCol="0" anchor="ctr"/>
          <a:lstStyle/>
          <a:p>
            <a:pPr marL="0" indent="0">
              <a:buNone/>
            </a:pPr>
            <a:r>
              <a:rPr lang="en-US" sz="1150" b="1" dirty="0">
                <a:solidFill>
                  <a:srgbClr val="1A6B3C"/>
                </a:solidFill>
                <a:latin typeface="Calibri" pitchFamily="34" charset="0"/>
                <a:ea typeface="Calibri" pitchFamily="34" charset="-122"/>
                <a:cs typeface="Calibri" pitchFamily="34" charset="-120"/>
              </a:rPr>
              <a:t>🚗  Worker Role  (Field Enforcement Officer)</a:t>
            </a:r>
            <a:endParaRPr lang="en-US" sz="1150" dirty="0"/>
          </a:p>
        </p:txBody>
      </p:sp>
      <p:sp>
        <p:nvSpPr>
          <p:cNvPr id="33" name="Text 31"/>
          <p:cNvSpPr/>
          <p:nvPr/>
        </p:nvSpPr>
        <p:spPr>
          <a:xfrm>
            <a:off x="5138928" y="3493008"/>
            <a:ext cx="3566160" cy="1188720"/>
          </a:xfrm>
          <a:prstGeom prst="rect">
            <a:avLst/>
          </a:prstGeom>
          <a:noFill/>
          <a:ln/>
        </p:spPr>
        <p:txBody>
          <a:bodyPr wrap="square" rtlCol="0" anchor="ctr"/>
          <a:lstStyle/>
          <a:p>
            <a:pPr marL="342900" indent="-342900">
              <a:spcAft>
                <a:spcPts val="300"/>
              </a:spcAft>
              <a:buSzPct val="100000"/>
              <a:buChar char="•"/>
            </a:pPr>
            <a:r>
              <a:rPr lang="en-US" sz="1050" dirty="0">
                <a:solidFill>
                  <a:srgbClr val="0D1B40"/>
                </a:solidFill>
                <a:latin typeface="Calibri" pitchFamily="34" charset="0"/>
                <a:ea typeface="Calibri" pitchFamily="34" charset="-122"/>
                <a:cs typeface="Calibri" pitchFamily="34" charset="-120"/>
              </a:rPr>
              <a:t>Assigned to one division only</a:t>
            </a:r>
            <a:endParaRPr lang="en-US" sz="1050" dirty="0"/>
          </a:p>
          <a:p>
            <a:pPr marL="342900" indent="-342900">
              <a:spcAft>
                <a:spcPts val="300"/>
              </a:spcAft>
              <a:buSzPct val="100000"/>
              <a:buChar char="•"/>
            </a:pPr>
            <a:r>
              <a:rPr lang="en-US" sz="1050" dirty="0">
                <a:solidFill>
                  <a:srgbClr val="0D1B40"/>
                </a:solidFill>
                <a:latin typeface="Calibri" pitchFamily="34" charset="0"/>
                <a:ea typeface="Calibri" pitchFamily="34" charset="-122"/>
                <a:cs typeface="Calibri" pitchFamily="34" charset="-120"/>
              </a:rPr>
              <a:t>Issue challans, send emails, print PDF</a:t>
            </a:r>
            <a:endParaRPr lang="en-US" sz="1050" dirty="0"/>
          </a:p>
          <a:p>
            <a:pPr marL="342900" indent="-342900">
              <a:spcAft>
                <a:spcPts val="300"/>
              </a:spcAft>
              <a:buSzPct val="100000"/>
              <a:buChar char="•"/>
            </a:pPr>
            <a:r>
              <a:rPr lang="en-US" sz="1050" dirty="0">
                <a:solidFill>
                  <a:srgbClr val="0D1B40"/>
                </a:solidFill>
                <a:latin typeface="Calibri" pitchFamily="34" charset="0"/>
                <a:ea typeface="Calibri" pitchFamily="34" charset="-122"/>
                <a:cs typeface="Calibri" pitchFamily="34" charset="-120"/>
              </a:rPr>
              <a:t>Cannot access other divisions' data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E5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D4A017"/>
          </a:solidFill>
          <a:ln w="12700">
            <a:solidFill>
              <a:srgbClr val="D4A017"/>
            </a:solidFill>
            <a:prstDash val="solid"/>
          </a:ln>
        </p:spPr>
      </p:sp>
      <p:sp>
        <p:nvSpPr>
          <p:cNvPr id="3" name="Text 1"/>
          <p:cNvSpPr/>
          <p:nvPr/>
        </p:nvSpPr>
        <p:spPr>
          <a:xfrm>
            <a:off x="365760" y="73152"/>
            <a:ext cx="8412480" cy="594360"/>
          </a:xfrm>
          <a:prstGeom prst="rect">
            <a:avLst/>
          </a:prstGeom>
          <a:noFill/>
          <a:ln/>
        </p:spPr>
        <p:txBody>
          <a:bodyPr wrap="square" rtlCol="0" anchor="ctr"/>
          <a:lstStyle/>
          <a:p>
            <a:pPr marL="0" indent="0">
              <a:buNone/>
            </a:pPr>
            <a:r>
              <a:rPr lang="en-US" sz="2200" b="1" dirty="0">
                <a:solidFill>
                  <a:srgbClr val="001E5A"/>
                </a:solidFill>
                <a:latin typeface="Cambria" pitchFamily="34" charset="0"/>
                <a:ea typeface="Cambria" pitchFamily="34" charset="-122"/>
                <a:cs typeface="Cambria" pitchFamily="34" charset="-120"/>
              </a:rPr>
              <a:t>Deployment, Scale &amp; Roadmap</a:t>
            </a:r>
            <a:endParaRPr lang="en-US" sz="2200" dirty="0"/>
          </a:p>
        </p:txBody>
      </p:sp>
      <p:sp>
        <p:nvSpPr>
          <p:cNvPr id="4" name="Shape 2"/>
          <p:cNvSpPr/>
          <p:nvPr/>
        </p:nvSpPr>
        <p:spPr>
          <a:xfrm>
            <a:off x="256032" y="914400"/>
            <a:ext cx="1965960" cy="1234440"/>
          </a:xfrm>
          <a:prstGeom prst="roundRect">
            <a:avLst>
              <a:gd name="adj" fmla="val 7407"/>
            </a:avLst>
          </a:prstGeom>
          <a:solidFill>
            <a:srgbClr val="003580">
              <a:alpha val="80000"/>
            </a:srgbClr>
          </a:solidFill>
          <a:ln w="12700">
            <a:solidFill>
              <a:srgbClr val="4070B0"/>
            </a:solidFill>
            <a:prstDash val="solid"/>
          </a:ln>
        </p:spPr>
      </p:sp>
      <p:sp>
        <p:nvSpPr>
          <p:cNvPr id="5" name="Text 3"/>
          <p:cNvSpPr/>
          <p:nvPr/>
        </p:nvSpPr>
        <p:spPr>
          <a:xfrm>
            <a:off x="256032" y="987552"/>
            <a:ext cx="1965960" cy="548640"/>
          </a:xfrm>
          <a:prstGeom prst="rect">
            <a:avLst/>
          </a:prstGeom>
          <a:noFill/>
          <a:ln/>
        </p:spPr>
        <p:txBody>
          <a:bodyPr wrap="square" lIns="0" tIns="0" rIns="0" bIns="0" rtlCol="0" anchor="ctr"/>
          <a:lstStyle/>
          <a:p>
            <a:pPr marL="0" indent="0" algn="ctr">
              <a:buNone/>
            </a:pPr>
            <a:r>
              <a:rPr lang="en-US" sz="2400" b="1" dirty="0">
                <a:solidFill>
                  <a:srgbClr val="D4A017"/>
                </a:solidFill>
                <a:latin typeface="Cambria" pitchFamily="34" charset="0"/>
                <a:ea typeface="Cambria" pitchFamily="34" charset="-122"/>
                <a:cs typeface="Cambria" pitchFamily="34" charset="-120"/>
              </a:rPr>
              <a:t>80–100</a:t>
            </a:r>
            <a:endParaRPr lang="en-US" sz="2400" dirty="0"/>
          </a:p>
        </p:txBody>
      </p:sp>
      <p:sp>
        <p:nvSpPr>
          <p:cNvPr id="6" name="Text 4"/>
          <p:cNvSpPr/>
          <p:nvPr/>
        </p:nvSpPr>
        <p:spPr>
          <a:xfrm>
            <a:off x="256032" y="1536192"/>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Challans / Day</a:t>
            </a:r>
            <a:endParaRPr lang="en-US" sz="950" dirty="0"/>
          </a:p>
        </p:txBody>
      </p:sp>
      <p:sp>
        <p:nvSpPr>
          <p:cNvPr id="7" name="Text 5"/>
          <p:cNvSpPr/>
          <p:nvPr/>
        </p:nvSpPr>
        <p:spPr>
          <a:xfrm>
            <a:off x="256032" y="1792224"/>
            <a:ext cx="1965960" cy="256032"/>
          </a:xfrm>
          <a:prstGeom prst="rect">
            <a:avLst/>
          </a:prstGeom>
          <a:noFill/>
          <a:ln/>
        </p:spPr>
        <p:txBody>
          <a:bodyPr wrap="square" lIns="0" tIns="0" rIns="0" bIns="0" rtlCol="0" anchor="ctr"/>
          <a:lstStyle/>
          <a:p>
            <a:pPr marL="0" indent="0" algn="ctr">
              <a:buNone/>
            </a:pPr>
            <a:r>
              <a:rPr lang="en-US" sz="800" dirty="0">
                <a:solidFill>
                  <a:srgbClr val="80A0D0"/>
                </a:solidFill>
                <a:latin typeface="Calibri" pitchFamily="34" charset="0"/>
                <a:ea typeface="Calibri" pitchFamily="34" charset="-122"/>
                <a:cs typeface="Calibri" pitchFamily="34" charset="-120"/>
              </a:rPr>
              <a:t>2 patrol vehicles</a:t>
            </a:r>
            <a:endParaRPr lang="en-US" sz="800" dirty="0"/>
          </a:p>
        </p:txBody>
      </p:sp>
      <p:sp>
        <p:nvSpPr>
          <p:cNvPr id="8" name="Shape 6"/>
          <p:cNvSpPr/>
          <p:nvPr/>
        </p:nvSpPr>
        <p:spPr>
          <a:xfrm>
            <a:off x="2432304" y="914400"/>
            <a:ext cx="1965960" cy="1234440"/>
          </a:xfrm>
          <a:prstGeom prst="roundRect">
            <a:avLst>
              <a:gd name="adj" fmla="val 7407"/>
            </a:avLst>
          </a:prstGeom>
          <a:solidFill>
            <a:srgbClr val="003580">
              <a:alpha val="80000"/>
            </a:srgbClr>
          </a:solidFill>
          <a:ln w="12700">
            <a:solidFill>
              <a:srgbClr val="4070B0"/>
            </a:solidFill>
            <a:prstDash val="solid"/>
          </a:ln>
        </p:spPr>
      </p:sp>
      <p:sp>
        <p:nvSpPr>
          <p:cNvPr id="9" name="Text 7"/>
          <p:cNvSpPr/>
          <p:nvPr/>
        </p:nvSpPr>
        <p:spPr>
          <a:xfrm>
            <a:off x="2432304" y="987552"/>
            <a:ext cx="1965960" cy="548640"/>
          </a:xfrm>
          <a:prstGeom prst="rect">
            <a:avLst/>
          </a:prstGeom>
          <a:noFill/>
          <a:ln/>
        </p:spPr>
        <p:txBody>
          <a:bodyPr wrap="square" lIns="0" tIns="0" rIns="0" bIns="0" rtlCol="0" anchor="ctr"/>
          <a:lstStyle/>
          <a:p>
            <a:pPr marL="0" indent="0" algn="ctr">
              <a:buNone/>
            </a:pPr>
            <a:r>
              <a:rPr lang="en-US" sz="2400" b="1" dirty="0">
                <a:solidFill>
                  <a:srgbClr val="D4A017"/>
                </a:solidFill>
                <a:latin typeface="Cambria" pitchFamily="34" charset="0"/>
                <a:ea typeface="Cambria" pitchFamily="34" charset="-122"/>
                <a:cs typeface="Cambria" pitchFamily="34" charset="-120"/>
              </a:rPr>
              <a:t>₹600/mo</a:t>
            </a:r>
            <a:endParaRPr lang="en-US" sz="2400" dirty="0"/>
          </a:p>
        </p:txBody>
      </p:sp>
      <p:sp>
        <p:nvSpPr>
          <p:cNvPr id="10" name="Text 8"/>
          <p:cNvSpPr/>
          <p:nvPr/>
        </p:nvSpPr>
        <p:spPr>
          <a:xfrm>
            <a:off x="2432304" y="1536192"/>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Hosting Cost</a:t>
            </a:r>
            <a:endParaRPr lang="en-US" sz="950" dirty="0"/>
          </a:p>
        </p:txBody>
      </p:sp>
      <p:sp>
        <p:nvSpPr>
          <p:cNvPr id="11" name="Text 9"/>
          <p:cNvSpPr/>
          <p:nvPr/>
        </p:nvSpPr>
        <p:spPr>
          <a:xfrm>
            <a:off x="2432304" y="1792224"/>
            <a:ext cx="1965960" cy="256032"/>
          </a:xfrm>
          <a:prstGeom prst="rect">
            <a:avLst/>
          </a:prstGeom>
          <a:noFill/>
          <a:ln/>
        </p:spPr>
        <p:txBody>
          <a:bodyPr wrap="square" lIns="0" tIns="0" rIns="0" bIns="0" rtlCol="0" anchor="ctr"/>
          <a:lstStyle/>
          <a:p>
            <a:pPr marL="0" indent="0" algn="ctr">
              <a:buNone/>
            </a:pPr>
            <a:r>
              <a:rPr lang="en-US" sz="800" dirty="0">
                <a:solidFill>
                  <a:srgbClr val="80A0D0"/>
                </a:solidFill>
                <a:latin typeface="Calibri" pitchFamily="34" charset="0"/>
                <a:ea typeface="Calibri" pitchFamily="34" charset="-122"/>
                <a:cs typeface="Calibri" pitchFamily="34" charset="-120"/>
              </a:rPr>
              <a:t>Render + Vercel + MongoDB</a:t>
            </a:r>
            <a:endParaRPr lang="en-US" sz="800" dirty="0"/>
          </a:p>
        </p:txBody>
      </p:sp>
      <p:sp>
        <p:nvSpPr>
          <p:cNvPr id="12" name="Shape 10"/>
          <p:cNvSpPr/>
          <p:nvPr/>
        </p:nvSpPr>
        <p:spPr>
          <a:xfrm>
            <a:off x="4608576" y="914400"/>
            <a:ext cx="1965960" cy="1234440"/>
          </a:xfrm>
          <a:prstGeom prst="roundRect">
            <a:avLst>
              <a:gd name="adj" fmla="val 7407"/>
            </a:avLst>
          </a:prstGeom>
          <a:solidFill>
            <a:srgbClr val="003580">
              <a:alpha val="80000"/>
            </a:srgbClr>
          </a:solidFill>
          <a:ln w="12700">
            <a:solidFill>
              <a:srgbClr val="4070B0"/>
            </a:solidFill>
            <a:prstDash val="solid"/>
          </a:ln>
        </p:spPr>
      </p:sp>
      <p:sp>
        <p:nvSpPr>
          <p:cNvPr id="13" name="Text 11"/>
          <p:cNvSpPr/>
          <p:nvPr/>
        </p:nvSpPr>
        <p:spPr>
          <a:xfrm>
            <a:off x="4608576" y="987552"/>
            <a:ext cx="1965960" cy="548640"/>
          </a:xfrm>
          <a:prstGeom prst="rect">
            <a:avLst/>
          </a:prstGeom>
          <a:noFill/>
          <a:ln/>
        </p:spPr>
        <p:txBody>
          <a:bodyPr wrap="square" lIns="0" tIns="0" rIns="0" bIns="0" rtlCol="0" anchor="ctr"/>
          <a:lstStyle/>
          <a:p>
            <a:pPr marL="0" indent="0" algn="ctr">
              <a:buNone/>
            </a:pPr>
            <a:r>
              <a:rPr lang="en-US" sz="2400" b="1" dirty="0">
                <a:solidFill>
                  <a:srgbClr val="D4A017"/>
                </a:solidFill>
                <a:latin typeface="Cambria" pitchFamily="34" charset="0"/>
                <a:ea typeface="Cambria" pitchFamily="34" charset="-122"/>
                <a:cs typeface="Cambria" pitchFamily="34" charset="-120"/>
              </a:rPr>
              <a:t>100%</a:t>
            </a:r>
            <a:endParaRPr lang="en-US" sz="2400" dirty="0"/>
          </a:p>
        </p:txBody>
      </p:sp>
      <p:sp>
        <p:nvSpPr>
          <p:cNvPr id="14" name="Text 12"/>
          <p:cNvSpPr/>
          <p:nvPr/>
        </p:nvSpPr>
        <p:spPr>
          <a:xfrm>
            <a:off x="4608576" y="1536192"/>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Cloud Based</a:t>
            </a:r>
            <a:endParaRPr lang="en-US" sz="950" dirty="0"/>
          </a:p>
        </p:txBody>
      </p:sp>
      <p:sp>
        <p:nvSpPr>
          <p:cNvPr id="15" name="Text 13"/>
          <p:cNvSpPr/>
          <p:nvPr/>
        </p:nvSpPr>
        <p:spPr>
          <a:xfrm>
            <a:off x="4608576" y="1792224"/>
            <a:ext cx="1965960" cy="256032"/>
          </a:xfrm>
          <a:prstGeom prst="rect">
            <a:avLst/>
          </a:prstGeom>
          <a:noFill/>
          <a:ln/>
        </p:spPr>
        <p:txBody>
          <a:bodyPr wrap="square" lIns="0" tIns="0" rIns="0" bIns="0" rtlCol="0" anchor="ctr"/>
          <a:lstStyle/>
          <a:p>
            <a:pPr marL="0" indent="0" algn="ctr">
              <a:buNone/>
            </a:pPr>
            <a:r>
              <a:rPr lang="en-US" sz="800" dirty="0">
                <a:solidFill>
                  <a:srgbClr val="80A0D0"/>
                </a:solidFill>
                <a:latin typeface="Calibri" pitchFamily="34" charset="0"/>
                <a:ea typeface="Calibri" pitchFamily="34" charset="-122"/>
                <a:cs typeface="Calibri" pitchFamily="34" charset="-120"/>
              </a:rPr>
              <a:t>No on-premise server</a:t>
            </a:r>
            <a:endParaRPr lang="en-US" sz="800" dirty="0"/>
          </a:p>
        </p:txBody>
      </p:sp>
      <p:sp>
        <p:nvSpPr>
          <p:cNvPr id="16" name="Shape 14"/>
          <p:cNvSpPr/>
          <p:nvPr/>
        </p:nvSpPr>
        <p:spPr>
          <a:xfrm>
            <a:off x="6784848" y="914400"/>
            <a:ext cx="1965960" cy="1234440"/>
          </a:xfrm>
          <a:prstGeom prst="roundRect">
            <a:avLst>
              <a:gd name="adj" fmla="val 7407"/>
            </a:avLst>
          </a:prstGeom>
          <a:solidFill>
            <a:srgbClr val="003580">
              <a:alpha val="80000"/>
            </a:srgbClr>
          </a:solidFill>
          <a:ln w="12700">
            <a:solidFill>
              <a:srgbClr val="4070B0"/>
            </a:solidFill>
            <a:prstDash val="solid"/>
          </a:ln>
        </p:spPr>
      </p:sp>
      <p:sp>
        <p:nvSpPr>
          <p:cNvPr id="17" name="Text 15"/>
          <p:cNvSpPr/>
          <p:nvPr/>
        </p:nvSpPr>
        <p:spPr>
          <a:xfrm>
            <a:off x="6784848" y="987552"/>
            <a:ext cx="1965960" cy="548640"/>
          </a:xfrm>
          <a:prstGeom prst="rect">
            <a:avLst/>
          </a:prstGeom>
          <a:noFill/>
          <a:ln/>
        </p:spPr>
        <p:txBody>
          <a:bodyPr wrap="square" lIns="0" tIns="0" rIns="0" bIns="0" rtlCol="0" anchor="ctr"/>
          <a:lstStyle/>
          <a:p>
            <a:pPr marL="0" indent="0" algn="ctr">
              <a:buNone/>
            </a:pPr>
            <a:r>
              <a:rPr lang="en-US" sz="2400" b="1" dirty="0">
                <a:solidFill>
                  <a:srgbClr val="D4A017"/>
                </a:solidFill>
                <a:latin typeface="Cambria" pitchFamily="34" charset="0"/>
                <a:ea typeface="Cambria" pitchFamily="34" charset="-122"/>
                <a:cs typeface="Cambria" pitchFamily="34" charset="-120"/>
              </a:rPr>
              <a:t>12</a:t>
            </a:r>
            <a:endParaRPr lang="en-US" sz="2400" dirty="0"/>
          </a:p>
        </p:txBody>
      </p:sp>
      <p:sp>
        <p:nvSpPr>
          <p:cNvPr id="18" name="Text 16"/>
          <p:cNvSpPr/>
          <p:nvPr/>
        </p:nvSpPr>
        <p:spPr>
          <a:xfrm>
            <a:off x="6784848" y="1536192"/>
            <a:ext cx="196596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Divisions Ready</a:t>
            </a:r>
            <a:endParaRPr lang="en-US" sz="950" dirty="0"/>
          </a:p>
        </p:txBody>
      </p:sp>
      <p:sp>
        <p:nvSpPr>
          <p:cNvPr id="19" name="Text 17"/>
          <p:cNvSpPr/>
          <p:nvPr/>
        </p:nvSpPr>
        <p:spPr>
          <a:xfrm>
            <a:off x="6784848" y="1792224"/>
            <a:ext cx="1965960" cy="256032"/>
          </a:xfrm>
          <a:prstGeom prst="rect">
            <a:avLst/>
          </a:prstGeom>
          <a:noFill/>
          <a:ln/>
        </p:spPr>
        <p:txBody>
          <a:bodyPr wrap="square" lIns="0" tIns="0" rIns="0" bIns="0" rtlCol="0" anchor="ctr"/>
          <a:lstStyle/>
          <a:p>
            <a:pPr marL="0" indent="0" algn="ctr">
              <a:buNone/>
            </a:pPr>
            <a:r>
              <a:rPr lang="en-US" sz="800" dirty="0">
                <a:solidFill>
                  <a:srgbClr val="80A0D0"/>
                </a:solidFill>
                <a:latin typeface="Calibri" pitchFamily="34" charset="0"/>
                <a:ea typeface="Calibri" pitchFamily="34" charset="-122"/>
                <a:cs typeface="Calibri" pitchFamily="34" charset="-120"/>
              </a:rPr>
              <a:t>All GHMC mandals</a:t>
            </a:r>
            <a:endParaRPr lang="en-US" sz="800" dirty="0"/>
          </a:p>
        </p:txBody>
      </p:sp>
      <p:sp>
        <p:nvSpPr>
          <p:cNvPr id="20" name="Text 18"/>
          <p:cNvSpPr/>
          <p:nvPr/>
        </p:nvSpPr>
        <p:spPr>
          <a:xfrm>
            <a:off x="274320" y="2331720"/>
            <a:ext cx="3931920" cy="310896"/>
          </a:xfrm>
          <a:prstGeom prst="rect">
            <a:avLst/>
          </a:prstGeom>
          <a:noFill/>
          <a:ln/>
        </p:spPr>
        <p:txBody>
          <a:bodyPr wrap="square" lIns="0" tIns="0" rIns="0" bIns="0" rtlCol="0" anchor="ctr"/>
          <a:lstStyle/>
          <a:p>
            <a:pPr marL="0" indent="0">
              <a:buNone/>
            </a:pPr>
            <a:r>
              <a:rPr lang="en-US" sz="1300" b="1" dirty="0">
                <a:solidFill>
                  <a:srgbClr val="D4A017"/>
                </a:solidFill>
                <a:latin typeface="Cambria" pitchFamily="34" charset="0"/>
                <a:ea typeface="Cambria" pitchFamily="34" charset="-122"/>
                <a:cs typeface="Cambria" pitchFamily="34" charset="-120"/>
              </a:rPr>
              <a:t>Infrastructure</a:t>
            </a:r>
            <a:endParaRPr lang="en-US" sz="1300" dirty="0"/>
          </a:p>
        </p:txBody>
      </p:sp>
      <p:sp>
        <p:nvSpPr>
          <p:cNvPr id="21" name="Shape 19"/>
          <p:cNvSpPr/>
          <p:nvPr/>
        </p:nvSpPr>
        <p:spPr>
          <a:xfrm>
            <a:off x="274320" y="2715768"/>
            <a:ext cx="3931920" cy="292608"/>
          </a:xfrm>
          <a:prstGeom prst="roundRect">
            <a:avLst>
              <a:gd name="adj" fmla="val 18750"/>
            </a:avLst>
          </a:prstGeom>
          <a:solidFill>
            <a:srgbClr val="0050B3">
              <a:alpha val="45000"/>
            </a:srgbClr>
          </a:solidFill>
          <a:ln w="12700">
            <a:solidFill>
              <a:srgbClr val="4070B0"/>
            </a:solidFill>
            <a:prstDash val="solid"/>
          </a:ln>
        </p:spPr>
      </p:sp>
      <p:sp>
        <p:nvSpPr>
          <p:cNvPr id="22" name="Text 20"/>
          <p:cNvSpPr/>
          <p:nvPr/>
        </p:nvSpPr>
        <p:spPr>
          <a:xfrm>
            <a:off x="384048" y="2743200"/>
            <a:ext cx="1645920" cy="228600"/>
          </a:xfrm>
          <a:prstGeom prst="rect">
            <a:avLst/>
          </a:prstGeom>
          <a:noFill/>
          <a:ln/>
        </p:spPr>
        <p:txBody>
          <a:bodyPr wrap="square" lIns="0" tIns="0" rIns="0" bIns="0" rtlCol="0" anchor="ctr"/>
          <a:lstStyle/>
          <a:p>
            <a:pPr marL="0" indent="0">
              <a:buNone/>
            </a:pPr>
            <a:r>
              <a:rPr lang="en-US" sz="950" b="1" dirty="0">
                <a:solidFill>
                  <a:srgbClr val="A0C0FF"/>
                </a:solidFill>
                <a:latin typeface="Calibri" pitchFamily="34" charset="0"/>
                <a:ea typeface="Calibri" pitchFamily="34" charset="-122"/>
                <a:cs typeface="Calibri" pitchFamily="34" charset="-120"/>
              </a:rPr>
              <a:t>Frontend</a:t>
            </a:r>
            <a:endParaRPr lang="en-US" sz="950" dirty="0"/>
          </a:p>
        </p:txBody>
      </p:sp>
      <p:sp>
        <p:nvSpPr>
          <p:cNvPr id="23" name="Text 21"/>
          <p:cNvSpPr/>
          <p:nvPr/>
        </p:nvSpPr>
        <p:spPr>
          <a:xfrm>
            <a:off x="2029968" y="2743200"/>
            <a:ext cx="2011680" cy="22860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Vercel (Free)</a:t>
            </a:r>
            <a:endParaRPr lang="en-US" sz="950" dirty="0"/>
          </a:p>
        </p:txBody>
      </p:sp>
      <p:sp>
        <p:nvSpPr>
          <p:cNvPr id="24" name="Shape 22"/>
          <p:cNvSpPr/>
          <p:nvPr/>
        </p:nvSpPr>
        <p:spPr>
          <a:xfrm>
            <a:off x="274320" y="3063240"/>
            <a:ext cx="3931920" cy="292608"/>
          </a:xfrm>
          <a:prstGeom prst="roundRect">
            <a:avLst>
              <a:gd name="adj" fmla="val 18750"/>
            </a:avLst>
          </a:prstGeom>
          <a:solidFill>
            <a:srgbClr val="0050B3">
              <a:alpha val="45000"/>
            </a:srgbClr>
          </a:solidFill>
          <a:ln w="12700">
            <a:solidFill>
              <a:srgbClr val="4070B0"/>
            </a:solidFill>
            <a:prstDash val="solid"/>
          </a:ln>
        </p:spPr>
      </p:sp>
      <p:sp>
        <p:nvSpPr>
          <p:cNvPr id="25" name="Text 23"/>
          <p:cNvSpPr/>
          <p:nvPr/>
        </p:nvSpPr>
        <p:spPr>
          <a:xfrm>
            <a:off x="384048" y="3090672"/>
            <a:ext cx="1645920" cy="228600"/>
          </a:xfrm>
          <a:prstGeom prst="rect">
            <a:avLst/>
          </a:prstGeom>
          <a:noFill/>
          <a:ln/>
        </p:spPr>
        <p:txBody>
          <a:bodyPr wrap="square" lIns="0" tIns="0" rIns="0" bIns="0" rtlCol="0" anchor="ctr"/>
          <a:lstStyle/>
          <a:p>
            <a:pPr marL="0" indent="0">
              <a:buNone/>
            </a:pPr>
            <a:r>
              <a:rPr lang="en-US" sz="950" b="1" dirty="0">
                <a:solidFill>
                  <a:srgbClr val="A0C0FF"/>
                </a:solidFill>
                <a:latin typeface="Calibri" pitchFamily="34" charset="0"/>
                <a:ea typeface="Calibri" pitchFamily="34" charset="-122"/>
                <a:cs typeface="Calibri" pitchFamily="34" charset="-120"/>
              </a:rPr>
              <a:t>Backend API</a:t>
            </a:r>
            <a:endParaRPr lang="en-US" sz="950" dirty="0"/>
          </a:p>
        </p:txBody>
      </p:sp>
      <p:sp>
        <p:nvSpPr>
          <p:cNvPr id="26" name="Text 24"/>
          <p:cNvSpPr/>
          <p:nvPr/>
        </p:nvSpPr>
        <p:spPr>
          <a:xfrm>
            <a:off x="2029968" y="3090672"/>
            <a:ext cx="2011680" cy="22860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Render — Node.js</a:t>
            </a:r>
            <a:endParaRPr lang="en-US" sz="950" dirty="0"/>
          </a:p>
        </p:txBody>
      </p:sp>
      <p:sp>
        <p:nvSpPr>
          <p:cNvPr id="27" name="Shape 25"/>
          <p:cNvSpPr/>
          <p:nvPr/>
        </p:nvSpPr>
        <p:spPr>
          <a:xfrm>
            <a:off x="274320" y="3410712"/>
            <a:ext cx="3931920" cy="292608"/>
          </a:xfrm>
          <a:prstGeom prst="roundRect">
            <a:avLst>
              <a:gd name="adj" fmla="val 18750"/>
            </a:avLst>
          </a:prstGeom>
          <a:solidFill>
            <a:srgbClr val="0050B3">
              <a:alpha val="45000"/>
            </a:srgbClr>
          </a:solidFill>
          <a:ln w="12700">
            <a:solidFill>
              <a:srgbClr val="4070B0"/>
            </a:solidFill>
            <a:prstDash val="solid"/>
          </a:ln>
        </p:spPr>
      </p:sp>
      <p:sp>
        <p:nvSpPr>
          <p:cNvPr id="28" name="Text 26"/>
          <p:cNvSpPr/>
          <p:nvPr/>
        </p:nvSpPr>
        <p:spPr>
          <a:xfrm>
            <a:off x="384048" y="3438144"/>
            <a:ext cx="1645920" cy="228600"/>
          </a:xfrm>
          <a:prstGeom prst="rect">
            <a:avLst/>
          </a:prstGeom>
          <a:noFill/>
          <a:ln/>
        </p:spPr>
        <p:txBody>
          <a:bodyPr wrap="square" lIns="0" tIns="0" rIns="0" bIns="0" rtlCol="0" anchor="ctr"/>
          <a:lstStyle/>
          <a:p>
            <a:pPr marL="0" indent="0">
              <a:buNone/>
            </a:pPr>
            <a:r>
              <a:rPr lang="en-US" sz="950" b="1" dirty="0">
                <a:solidFill>
                  <a:srgbClr val="A0C0FF"/>
                </a:solidFill>
                <a:latin typeface="Calibri" pitchFamily="34" charset="0"/>
                <a:ea typeface="Calibri" pitchFamily="34" charset="-122"/>
                <a:cs typeface="Calibri" pitchFamily="34" charset="-120"/>
              </a:rPr>
              <a:t>Database</a:t>
            </a:r>
            <a:endParaRPr lang="en-US" sz="950" dirty="0"/>
          </a:p>
        </p:txBody>
      </p:sp>
      <p:sp>
        <p:nvSpPr>
          <p:cNvPr id="29" name="Text 27"/>
          <p:cNvSpPr/>
          <p:nvPr/>
        </p:nvSpPr>
        <p:spPr>
          <a:xfrm>
            <a:off x="2029968" y="3438144"/>
            <a:ext cx="2011680" cy="22860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MongoDB Atlas (Free)</a:t>
            </a:r>
            <a:endParaRPr lang="en-US" sz="950" dirty="0"/>
          </a:p>
        </p:txBody>
      </p:sp>
      <p:sp>
        <p:nvSpPr>
          <p:cNvPr id="30" name="Shape 28"/>
          <p:cNvSpPr/>
          <p:nvPr/>
        </p:nvSpPr>
        <p:spPr>
          <a:xfrm>
            <a:off x="274320" y="3758184"/>
            <a:ext cx="3931920" cy="292608"/>
          </a:xfrm>
          <a:prstGeom prst="roundRect">
            <a:avLst>
              <a:gd name="adj" fmla="val 18750"/>
            </a:avLst>
          </a:prstGeom>
          <a:solidFill>
            <a:srgbClr val="0050B3">
              <a:alpha val="45000"/>
            </a:srgbClr>
          </a:solidFill>
          <a:ln w="12700">
            <a:solidFill>
              <a:srgbClr val="4070B0"/>
            </a:solidFill>
            <a:prstDash val="solid"/>
          </a:ln>
        </p:spPr>
      </p:sp>
      <p:sp>
        <p:nvSpPr>
          <p:cNvPr id="31" name="Text 29"/>
          <p:cNvSpPr/>
          <p:nvPr/>
        </p:nvSpPr>
        <p:spPr>
          <a:xfrm>
            <a:off x="384048" y="3785616"/>
            <a:ext cx="1645920" cy="228600"/>
          </a:xfrm>
          <a:prstGeom prst="rect">
            <a:avLst/>
          </a:prstGeom>
          <a:noFill/>
          <a:ln/>
        </p:spPr>
        <p:txBody>
          <a:bodyPr wrap="square" lIns="0" tIns="0" rIns="0" bIns="0" rtlCol="0" anchor="ctr"/>
          <a:lstStyle/>
          <a:p>
            <a:pPr marL="0" indent="0">
              <a:buNone/>
            </a:pPr>
            <a:r>
              <a:rPr lang="en-US" sz="950" b="1" dirty="0">
                <a:solidFill>
                  <a:srgbClr val="A0C0FF"/>
                </a:solidFill>
                <a:latin typeface="Calibri" pitchFamily="34" charset="0"/>
                <a:ea typeface="Calibri" pitchFamily="34" charset="-122"/>
                <a:cs typeface="Calibri" pitchFamily="34" charset="-120"/>
              </a:rPr>
              <a:t>Email</a:t>
            </a:r>
            <a:endParaRPr lang="en-US" sz="950" dirty="0"/>
          </a:p>
        </p:txBody>
      </p:sp>
      <p:sp>
        <p:nvSpPr>
          <p:cNvPr id="32" name="Text 30"/>
          <p:cNvSpPr/>
          <p:nvPr/>
        </p:nvSpPr>
        <p:spPr>
          <a:xfrm>
            <a:off x="2029968" y="3785616"/>
            <a:ext cx="2011680" cy="22860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Gmail SMTP — Port 587</a:t>
            </a:r>
            <a:endParaRPr lang="en-US" sz="950" dirty="0"/>
          </a:p>
        </p:txBody>
      </p:sp>
      <p:sp>
        <p:nvSpPr>
          <p:cNvPr id="33" name="Text 31"/>
          <p:cNvSpPr/>
          <p:nvPr/>
        </p:nvSpPr>
        <p:spPr>
          <a:xfrm>
            <a:off x="4663440" y="2331720"/>
            <a:ext cx="4206240" cy="310896"/>
          </a:xfrm>
          <a:prstGeom prst="rect">
            <a:avLst/>
          </a:prstGeom>
          <a:noFill/>
          <a:ln/>
        </p:spPr>
        <p:txBody>
          <a:bodyPr wrap="square" lIns="0" tIns="0" rIns="0" bIns="0" rtlCol="0" anchor="ctr"/>
          <a:lstStyle/>
          <a:p>
            <a:pPr marL="0" indent="0">
              <a:buNone/>
            </a:pPr>
            <a:r>
              <a:rPr lang="en-US" sz="1300" b="1" dirty="0">
                <a:solidFill>
                  <a:srgbClr val="D4A017"/>
                </a:solidFill>
                <a:latin typeface="Cambria" pitchFamily="34" charset="0"/>
                <a:ea typeface="Cambria" pitchFamily="34" charset="-122"/>
                <a:cs typeface="Cambria" pitchFamily="34" charset="-120"/>
              </a:rPr>
              <a:t>Next Steps &amp; Roadmap</a:t>
            </a:r>
            <a:endParaRPr lang="en-US" sz="1300" dirty="0"/>
          </a:p>
        </p:txBody>
      </p:sp>
      <p:sp>
        <p:nvSpPr>
          <p:cNvPr id="34" name="Shape 32"/>
          <p:cNvSpPr/>
          <p:nvPr/>
        </p:nvSpPr>
        <p:spPr>
          <a:xfrm>
            <a:off x="4663440" y="2715768"/>
            <a:ext cx="713232" cy="274320"/>
          </a:xfrm>
          <a:prstGeom prst="roundRect">
            <a:avLst>
              <a:gd name="adj" fmla="val 20000"/>
            </a:avLst>
          </a:prstGeom>
          <a:solidFill>
            <a:srgbClr val="1A6B3C"/>
          </a:solidFill>
          <a:ln w="12700">
            <a:solidFill>
              <a:srgbClr val="0050B3"/>
            </a:solidFill>
            <a:prstDash val="solid"/>
          </a:ln>
        </p:spPr>
      </p:sp>
      <p:sp>
        <p:nvSpPr>
          <p:cNvPr id="35" name="Text 33"/>
          <p:cNvSpPr/>
          <p:nvPr/>
        </p:nvSpPr>
        <p:spPr>
          <a:xfrm>
            <a:off x="4663440" y="2743200"/>
            <a:ext cx="71323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Trial</a:t>
            </a:r>
            <a:endParaRPr lang="en-US" sz="750" dirty="0"/>
          </a:p>
        </p:txBody>
      </p:sp>
      <p:sp>
        <p:nvSpPr>
          <p:cNvPr id="36" name="Text 34"/>
          <p:cNvSpPr/>
          <p:nvPr/>
        </p:nvSpPr>
        <p:spPr>
          <a:xfrm>
            <a:off x="5449824" y="2752344"/>
            <a:ext cx="3383280" cy="256032"/>
          </a:xfrm>
          <a:prstGeom prst="rect">
            <a:avLst/>
          </a:prstGeom>
          <a:noFill/>
          <a:ln/>
        </p:spPr>
        <p:txBody>
          <a:bodyPr wrap="square" lIns="0" tIns="0" rIns="0" bIns="0" rtlCol="0" anchor="ctr"/>
          <a:lstStyle/>
          <a:p>
            <a:pPr marL="0" indent="0">
              <a:buNone/>
            </a:pPr>
            <a:r>
              <a:rPr lang="en-US" sz="950" dirty="0">
                <a:solidFill>
                  <a:srgbClr val="C0D8FF"/>
                </a:solidFill>
                <a:latin typeface="Calibri" pitchFamily="34" charset="0"/>
                <a:ea typeface="Calibri" pitchFamily="34" charset="-122"/>
                <a:cs typeface="Calibri" pitchFamily="34" charset="-120"/>
              </a:rPr>
              <a:t>2 vehicles, live field testing — running now</a:t>
            </a:r>
            <a:endParaRPr lang="en-US" sz="950" dirty="0"/>
          </a:p>
        </p:txBody>
      </p:sp>
      <p:sp>
        <p:nvSpPr>
          <p:cNvPr id="37" name="Shape 35"/>
          <p:cNvSpPr/>
          <p:nvPr/>
        </p:nvSpPr>
        <p:spPr>
          <a:xfrm>
            <a:off x="4663440" y="3099816"/>
            <a:ext cx="713232" cy="274320"/>
          </a:xfrm>
          <a:prstGeom prst="roundRect">
            <a:avLst>
              <a:gd name="adj" fmla="val 20000"/>
            </a:avLst>
          </a:prstGeom>
          <a:solidFill>
            <a:srgbClr val="D4A017"/>
          </a:solidFill>
          <a:ln w="12700">
            <a:solidFill>
              <a:srgbClr val="0050B3"/>
            </a:solidFill>
            <a:prstDash val="solid"/>
          </a:ln>
        </p:spPr>
      </p:sp>
      <p:sp>
        <p:nvSpPr>
          <p:cNvPr id="38" name="Text 36"/>
          <p:cNvSpPr/>
          <p:nvPr/>
        </p:nvSpPr>
        <p:spPr>
          <a:xfrm>
            <a:off x="4663440" y="3127248"/>
            <a:ext cx="71323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Phase 1</a:t>
            </a:r>
            <a:endParaRPr lang="en-US" sz="750" dirty="0"/>
          </a:p>
        </p:txBody>
      </p:sp>
      <p:sp>
        <p:nvSpPr>
          <p:cNvPr id="39" name="Text 37"/>
          <p:cNvSpPr/>
          <p:nvPr/>
        </p:nvSpPr>
        <p:spPr>
          <a:xfrm>
            <a:off x="5449824" y="3136392"/>
            <a:ext cx="3383280" cy="256032"/>
          </a:xfrm>
          <a:prstGeom prst="rect">
            <a:avLst/>
          </a:prstGeom>
          <a:noFill/>
          <a:ln/>
        </p:spPr>
        <p:txBody>
          <a:bodyPr wrap="square" lIns="0" tIns="0" rIns="0" bIns="0" rtlCol="0" anchor="ctr"/>
          <a:lstStyle/>
          <a:p>
            <a:pPr marL="0" indent="0">
              <a:buNone/>
            </a:pPr>
            <a:r>
              <a:rPr lang="en-US" sz="950" dirty="0">
                <a:solidFill>
                  <a:srgbClr val="C0D8FF"/>
                </a:solidFill>
                <a:latin typeface="Calibri" pitchFamily="34" charset="0"/>
                <a:ea typeface="Calibri" pitchFamily="34" charset="-122"/>
                <a:cs typeface="Calibri" pitchFamily="34" charset="-120"/>
              </a:rPr>
              <a:t>Upgrade Render to paid plan (₹600/mo)</a:t>
            </a:r>
            <a:endParaRPr lang="en-US" sz="950" dirty="0"/>
          </a:p>
        </p:txBody>
      </p:sp>
      <p:sp>
        <p:nvSpPr>
          <p:cNvPr id="40" name="Shape 38"/>
          <p:cNvSpPr/>
          <p:nvPr/>
        </p:nvSpPr>
        <p:spPr>
          <a:xfrm>
            <a:off x="4663440" y="3483864"/>
            <a:ext cx="713232" cy="274320"/>
          </a:xfrm>
          <a:prstGeom prst="roundRect">
            <a:avLst>
              <a:gd name="adj" fmla="val 20000"/>
            </a:avLst>
          </a:prstGeom>
          <a:solidFill>
            <a:srgbClr val="0050B3"/>
          </a:solidFill>
          <a:ln w="12700">
            <a:solidFill>
              <a:srgbClr val="0050B3"/>
            </a:solidFill>
            <a:prstDash val="solid"/>
          </a:ln>
        </p:spPr>
      </p:sp>
      <p:sp>
        <p:nvSpPr>
          <p:cNvPr id="41" name="Text 39"/>
          <p:cNvSpPr/>
          <p:nvPr/>
        </p:nvSpPr>
        <p:spPr>
          <a:xfrm>
            <a:off x="4663440" y="3511296"/>
            <a:ext cx="71323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Phase 2</a:t>
            </a:r>
            <a:endParaRPr lang="en-US" sz="750" dirty="0"/>
          </a:p>
        </p:txBody>
      </p:sp>
      <p:sp>
        <p:nvSpPr>
          <p:cNvPr id="42" name="Text 40"/>
          <p:cNvSpPr/>
          <p:nvPr/>
        </p:nvSpPr>
        <p:spPr>
          <a:xfrm>
            <a:off x="5449824" y="3520440"/>
            <a:ext cx="3383280" cy="256032"/>
          </a:xfrm>
          <a:prstGeom prst="rect">
            <a:avLst/>
          </a:prstGeom>
          <a:noFill/>
          <a:ln/>
        </p:spPr>
        <p:txBody>
          <a:bodyPr wrap="square" lIns="0" tIns="0" rIns="0" bIns="0" rtlCol="0" anchor="ctr"/>
          <a:lstStyle/>
          <a:p>
            <a:pPr marL="0" indent="0">
              <a:buNone/>
            </a:pPr>
            <a:r>
              <a:rPr lang="en-US" sz="950" dirty="0">
                <a:solidFill>
                  <a:srgbClr val="C0D8FF"/>
                </a:solidFill>
                <a:latin typeface="Calibri" pitchFamily="34" charset="0"/>
                <a:ea typeface="Calibri" pitchFamily="34" charset="-122"/>
                <a:cs typeface="Calibri" pitchFamily="34" charset="-120"/>
              </a:rPr>
              <a:t>Custom domain: ghmc-challan.gov.in</a:t>
            </a:r>
            <a:endParaRPr lang="en-US" sz="950" dirty="0"/>
          </a:p>
        </p:txBody>
      </p:sp>
      <p:sp>
        <p:nvSpPr>
          <p:cNvPr id="43" name="Shape 41"/>
          <p:cNvSpPr/>
          <p:nvPr/>
        </p:nvSpPr>
        <p:spPr>
          <a:xfrm>
            <a:off x="4663440" y="3867912"/>
            <a:ext cx="713232" cy="274320"/>
          </a:xfrm>
          <a:prstGeom prst="roundRect">
            <a:avLst>
              <a:gd name="adj" fmla="val 20000"/>
            </a:avLst>
          </a:prstGeom>
          <a:solidFill>
            <a:srgbClr val="0050B3"/>
          </a:solidFill>
          <a:ln w="12700">
            <a:solidFill>
              <a:srgbClr val="0050B3"/>
            </a:solidFill>
            <a:prstDash val="solid"/>
          </a:ln>
        </p:spPr>
      </p:sp>
      <p:sp>
        <p:nvSpPr>
          <p:cNvPr id="44" name="Text 42"/>
          <p:cNvSpPr/>
          <p:nvPr/>
        </p:nvSpPr>
        <p:spPr>
          <a:xfrm>
            <a:off x="4663440" y="3895344"/>
            <a:ext cx="71323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Phase 3</a:t>
            </a:r>
            <a:endParaRPr lang="en-US" sz="750" dirty="0"/>
          </a:p>
        </p:txBody>
      </p:sp>
      <p:sp>
        <p:nvSpPr>
          <p:cNvPr id="45" name="Text 43"/>
          <p:cNvSpPr/>
          <p:nvPr/>
        </p:nvSpPr>
        <p:spPr>
          <a:xfrm>
            <a:off x="5449824" y="3904488"/>
            <a:ext cx="3383280" cy="256032"/>
          </a:xfrm>
          <a:prstGeom prst="rect">
            <a:avLst/>
          </a:prstGeom>
          <a:noFill/>
          <a:ln/>
        </p:spPr>
        <p:txBody>
          <a:bodyPr wrap="square" lIns="0" tIns="0" rIns="0" bIns="0" rtlCol="0" anchor="ctr"/>
          <a:lstStyle/>
          <a:p>
            <a:pPr marL="0" indent="0">
              <a:buNone/>
            </a:pPr>
            <a:r>
              <a:rPr lang="en-US" sz="950" dirty="0">
                <a:solidFill>
                  <a:srgbClr val="C0D8FF"/>
                </a:solidFill>
                <a:latin typeface="Calibri" pitchFamily="34" charset="0"/>
                <a:ea typeface="Calibri" pitchFamily="34" charset="-122"/>
                <a:cs typeface="Calibri" pitchFamily="34" charset="-120"/>
              </a:rPr>
              <a:t>Expand to all enforcement vehicles citywide</a:t>
            </a:r>
            <a:endParaRPr lang="en-US" sz="950" dirty="0"/>
          </a:p>
        </p:txBody>
      </p:sp>
      <p:sp>
        <p:nvSpPr>
          <p:cNvPr id="46" name="Shape 44"/>
          <p:cNvSpPr/>
          <p:nvPr/>
        </p:nvSpPr>
        <p:spPr>
          <a:xfrm>
            <a:off x="4663440" y="4251960"/>
            <a:ext cx="713232" cy="274320"/>
          </a:xfrm>
          <a:prstGeom prst="roundRect">
            <a:avLst>
              <a:gd name="adj" fmla="val 20000"/>
            </a:avLst>
          </a:prstGeom>
          <a:solidFill>
            <a:srgbClr val="0050B3"/>
          </a:solidFill>
          <a:ln w="12700">
            <a:solidFill>
              <a:srgbClr val="0050B3"/>
            </a:solidFill>
            <a:prstDash val="solid"/>
          </a:ln>
        </p:spPr>
      </p:sp>
      <p:sp>
        <p:nvSpPr>
          <p:cNvPr id="47" name="Text 45"/>
          <p:cNvSpPr/>
          <p:nvPr/>
        </p:nvSpPr>
        <p:spPr>
          <a:xfrm>
            <a:off x="4663440" y="4279392"/>
            <a:ext cx="71323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Future</a:t>
            </a:r>
            <a:endParaRPr lang="en-US" sz="750" dirty="0"/>
          </a:p>
        </p:txBody>
      </p:sp>
      <p:sp>
        <p:nvSpPr>
          <p:cNvPr id="48" name="Text 46"/>
          <p:cNvSpPr/>
          <p:nvPr/>
        </p:nvSpPr>
        <p:spPr>
          <a:xfrm>
            <a:off x="5449824" y="4288536"/>
            <a:ext cx="3383280" cy="256032"/>
          </a:xfrm>
          <a:prstGeom prst="rect">
            <a:avLst/>
          </a:prstGeom>
          <a:noFill/>
          <a:ln/>
        </p:spPr>
        <p:txBody>
          <a:bodyPr wrap="square" lIns="0" tIns="0" rIns="0" bIns="0" rtlCol="0" anchor="ctr"/>
          <a:lstStyle/>
          <a:p>
            <a:pPr marL="0" indent="0">
              <a:buNone/>
            </a:pPr>
            <a:r>
              <a:rPr lang="en-US" sz="950" dirty="0">
                <a:solidFill>
                  <a:srgbClr val="C0D8FF"/>
                </a:solidFill>
                <a:latin typeface="Calibri" pitchFamily="34" charset="0"/>
                <a:ea typeface="Calibri" pitchFamily="34" charset="-122"/>
                <a:cs typeface="Calibri" pitchFamily="34" charset="-120"/>
              </a:rPr>
              <a:t>SMS alerts to violators + live map view</a:t>
            </a:r>
            <a:endParaRPr lang="en-US" sz="950" dirty="0"/>
          </a:p>
        </p:txBody>
      </p:sp>
      <p:sp>
        <p:nvSpPr>
          <p:cNvPr id="49" name="Text 47"/>
          <p:cNvSpPr/>
          <p:nvPr/>
        </p:nvSpPr>
        <p:spPr>
          <a:xfrm>
            <a:off x="274320" y="4791456"/>
            <a:ext cx="8595360" cy="256032"/>
          </a:xfrm>
          <a:prstGeom prst="rect">
            <a:avLst/>
          </a:prstGeom>
          <a:noFill/>
          <a:ln/>
        </p:spPr>
        <p:txBody>
          <a:bodyPr wrap="square" rtlCol="0" anchor="ctr"/>
          <a:lstStyle/>
          <a:p>
            <a:pPr marL="0" indent="0" algn="ctr">
              <a:buNone/>
            </a:pPr>
            <a:r>
              <a:rPr lang="en-US" sz="850" i="1" dirty="0">
                <a:solidFill>
                  <a:srgbClr val="5070A0"/>
                </a:solidFill>
                <a:latin typeface="Calibri" pitchFamily="34" charset="0"/>
                <a:ea typeface="Calibri" pitchFamily="34" charset="-122"/>
                <a:cs typeface="Calibri" pitchFamily="34" charset="-120"/>
              </a:rPr>
              <a:t>System is live · Built on MERN Stack · Fully deployable · Source code owned by GHMC</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655</Words>
  <Application>Microsoft Office PowerPoint</Application>
  <PresentationFormat>On-screen Show (16:9)</PresentationFormat>
  <Paragraphs>120</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GHMC Digital Challan System</dc:title>
  <dc:subject>PptxGenJS Presentation</dc:subject>
  <dc:creator>GHMC Enforcement</dc:creator>
  <cp:lastModifiedBy>mukarramuddin0901@outlook.com</cp:lastModifiedBy>
  <cp:revision>2</cp:revision>
  <dcterms:created xsi:type="dcterms:W3CDTF">2026-06-11T07:11:56Z</dcterms:created>
  <dcterms:modified xsi:type="dcterms:W3CDTF">2026-06-11T11:14:46Z</dcterms:modified>
</cp:coreProperties>
</file>